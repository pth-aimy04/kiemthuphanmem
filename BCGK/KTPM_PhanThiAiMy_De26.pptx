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10.svg" ContentType="image/svg+xml"/>
  <Override PartName="/ppt/media/image13.svg" ContentType="image/svg+xml"/>
  <Override PartName="/ppt/media/image15.svg" ContentType="image/svg+xml"/>
  <Override PartName="/ppt/media/image2.svg" ContentType="image/svg+xml"/>
  <Override PartName="/ppt/media/image4.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sldSz cx="18288000" cy="10287000"/>
  <p:notesSz cx="6858000" cy="9144000"/>
  <p:embeddedFontLst>
    <p:embeddedFont>
      <p:font typeface="Barlow Condensed Heavy" panose="00000A06000000000000"/>
      <p:bold r:id="rId16"/>
    </p:embeddedFont>
    <p:embeddedFont>
      <p:font typeface="Barlow Condensed Bold" panose="00000806000000000000"/>
      <p:bold r:id="rId17"/>
    </p:embeddedFont>
    <p:embeddedFont>
      <p:font typeface="Aileron Bold" panose="00000800000000000000"/>
      <p:bold r:id="rId18"/>
    </p:embeddedFont>
    <p:embeddedFont>
      <p:font typeface="Calibri" panose="020F050202020403020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font" Target="fonts/font7.fntdata"/><Relationship Id="rId21" Type="http://schemas.openxmlformats.org/officeDocument/2006/relationships/font" Target="fonts/font6.fntdata"/><Relationship Id="rId20" Type="http://schemas.openxmlformats.org/officeDocument/2006/relationships/font" Target="fonts/font5.fntdata"/><Relationship Id="rId2" Type="http://schemas.openxmlformats.org/officeDocument/2006/relationships/theme" Target="theme/theme1.xml"/><Relationship Id="rId19" Type="http://schemas.openxmlformats.org/officeDocument/2006/relationships/font" Target="fonts/font4.fntdata"/><Relationship Id="rId18" Type="http://schemas.openxmlformats.org/officeDocument/2006/relationships/font" Target="fonts/font3.fntdata"/><Relationship Id="rId17" Type="http://schemas.openxmlformats.org/officeDocument/2006/relationships/font" Target="fonts/font2.fntdata"/><Relationship Id="rId16" Type="http://schemas.openxmlformats.org/officeDocument/2006/relationships/font" Target="fonts/font1.fntdata"/><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1" Type="http://schemas.openxmlformats.org/officeDocument/2006/relationships/slideLayout" Target="../slideLayouts/slideLayout7.xml"/><Relationship Id="rId10" Type="http://schemas.openxmlformats.org/officeDocument/2006/relationships/image" Target="../media/image10.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 Id="rId3" Type="http://schemas.openxmlformats.org/officeDocument/2006/relationships/image" Target="../media/image12.png"/><Relationship Id="rId2" Type="http://schemas.openxmlformats.org/officeDocument/2006/relationships/image" Target="../media/image6.svg"/><Relationship Id="rId1" Type="http://schemas.openxmlformats.org/officeDocument/2006/relationships/image" Target="../media/image11.png"/></Relationships>
</file>

<file path=ppt/slides/_rels/slide3.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3.svg"/><Relationship Id="rId7" Type="http://schemas.openxmlformats.org/officeDocument/2006/relationships/image" Target="../media/image18.png"/><Relationship Id="rId6" Type="http://schemas.openxmlformats.org/officeDocument/2006/relationships/image" Target="../media/image10.svg"/><Relationship Id="rId5" Type="http://schemas.openxmlformats.org/officeDocument/2006/relationships/image" Target="../media/image17.png"/><Relationship Id="rId4" Type="http://schemas.openxmlformats.org/officeDocument/2006/relationships/image" Target="../media/image15.svg"/><Relationship Id="rId3" Type="http://schemas.openxmlformats.org/officeDocument/2006/relationships/image" Target="../media/image16.png"/><Relationship Id="rId2" Type="http://schemas.openxmlformats.org/officeDocument/2006/relationships/image" Target="../media/image6.svg"/><Relationship Id="rId12" Type="http://schemas.openxmlformats.org/officeDocument/2006/relationships/slideLayout" Target="../slideLayouts/slideLayout7.xml"/><Relationship Id="rId11" Type="http://schemas.openxmlformats.org/officeDocument/2006/relationships/image" Target="../media/image21.png"/><Relationship Id="rId10" Type="http://schemas.openxmlformats.org/officeDocument/2006/relationships/image" Target="../media/image20.png"/><Relationship Id="rId1" Type="http://schemas.openxmlformats.org/officeDocument/2006/relationships/image" Target="../media/image11.png"/></Relationships>
</file>

<file path=ppt/slides/_rels/slide4.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13.svg"/><Relationship Id="rId7" Type="http://schemas.openxmlformats.org/officeDocument/2006/relationships/image" Target="../media/image18.png"/><Relationship Id="rId6" Type="http://schemas.openxmlformats.org/officeDocument/2006/relationships/image" Target="../media/image10.svg"/><Relationship Id="rId5" Type="http://schemas.openxmlformats.org/officeDocument/2006/relationships/image" Target="../media/image17.png"/><Relationship Id="rId4" Type="http://schemas.openxmlformats.org/officeDocument/2006/relationships/image" Target="../media/image15.svg"/><Relationship Id="rId3" Type="http://schemas.openxmlformats.org/officeDocument/2006/relationships/image" Target="../media/image16.png"/><Relationship Id="rId2" Type="http://schemas.openxmlformats.org/officeDocument/2006/relationships/image" Target="../media/image6.svg"/><Relationship Id="rId11" Type="http://schemas.openxmlformats.org/officeDocument/2006/relationships/slideLayout" Target="../slideLayouts/slideLayout7.xml"/><Relationship Id="rId10" Type="http://schemas.openxmlformats.org/officeDocument/2006/relationships/image" Target="../media/image23.png"/><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13.svg"/><Relationship Id="rId7" Type="http://schemas.openxmlformats.org/officeDocument/2006/relationships/image" Target="../media/image18.png"/><Relationship Id="rId6" Type="http://schemas.openxmlformats.org/officeDocument/2006/relationships/image" Target="../media/image10.svg"/><Relationship Id="rId5" Type="http://schemas.openxmlformats.org/officeDocument/2006/relationships/image" Target="../media/image17.png"/><Relationship Id="rId4" Type="http://schemas.openxmlformats.org/officeDocument/2006/relationships/image" Target="../media/image15.svg"/><Relationship Id="rId3" Type="http://schemas.openxmlformats.org/officeDocument/2006/relationships/image" Target="../media/image16.png"/><Relationship Id="rId2" Type="http://schemas.openxmlformats.org/officeDocument/2006/relationships/image" Target="../media/image6.svg"/><Relationship Id="rId12" Type="http://schemas.openxmlformats.org/officeDocument/2006/relationships/slideLayout" Target="../slideLayouts/slideLayout7.xml"/><Relationship Id="rId11" Type="http://schemas.openxmlformats.org/officeDocument/2006/relationships/image" Target="../media/image26.png"/><Relationship Id="rId10" Type="http://schemas.openxmlformats.org/officeDocument/2006/relationships/image" Target="../media/image25.png"/><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image" Target="../media/image13.svg"/><Relationship Id="rId7" Type="http://schemas.openxmlformats.org/officeDocument/2006/relationships/image" Target="../media/image18.png"/><Relationship Id="rId6" Type="http://schemas.openxmlformats.org/officeDocument/2006/relationships/image" Target="../media/image10.svg"/><Relationship Id="rId5" Type="http://schemas.openxmlformats.org/officeDocument/2006/relationships/image" Target="../media/image17.png"/><Relationship Id="rId4" Type="http://schemas.openxmlformats.org/officeDocument/2006/relationships/image" Target="../media/image15.svg"/><Relationship Id="rId3" Type="http://schemas.openxmlformats.org/officeDocument/2006/relationships/image" Target="../media/image16.png"/><Relationship Id="rId2" Type="http://schemas.openxmlformats.org/officeDocument/2006/relationships/image" Target="../media/image6.svg"/><Relationship Id="rId13" Type="http://schemas.openxmlformats.org/officeDocument/2006/relationships/slideLayout" Target="../slideLayouts/slideLayout7.xml"/><Relationship Id="rId12" Type="http://schemas.openxmlformats.org/officeDocument/2006/relationships/image" Target="../media/image30.png"/><Relationship Id="rId11" Type="http://schemas.openxmlformats.org/officeDocument/2006/relationships/image" Target="../media/image29.png"/><Relationship Id="rId10" Type="http://schemas.openxmlformats.org/officeDocument/2006/relationships/image" Target="../media/image28.pn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9" Type="http://schemas.openxmlformats.org/officeDocument/2006/relationships/image" Target="../media/image31.png"/><Relationship Id="rId8" Type="http://schemas.openxmlformats.org/officeDocument/2006/relationships/image" Target="../media/image13.svg"/><Relationship Id="rId7" Type="http://schemas.openxmlformats.org/officeDocument/2006/relationships/image" Target="../media/image18.png"/><Relationship Id="rId6" Type="http://schemas.openxmlformats.org/officeDocument/2006/relationships/image" Target="../media/image10.svg"/><Relationship Id="rId5" Type="http://schemas.openxmlformats.org/officeDocument/2006/relationships/image" Target="../media/image17.png"/><Relationship Id="rId4" Type="http://schemas.openxmlformats.org/officeDocument/2006/relationships/image" Target="../media/image15.svg"/><Relationship Id="rId3" Type="http://schemas.openxmlformats.org/officeDocument/2006/relationships/image" Target="../media/image16.png"/><Relationship Id="rId2" Type="http://schemas.openxmlformats.org/officeDocument/2006/relationships/image" Target="../media/image6.svg"/><Relationship Id="rId11" Type="http://schemas.openxmlformats.org/officeDocument/2006/relationships/slideLayout" Target="../slideLayouts/slideLayout7.xml"/><Relationship Id="rId10" Type="http://schemas.openxmlformats.org/officeDocument/2006/relationships/image" Target="../media/image32.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13.svg"/><Relationship Id="rId7" Type="http://schemas.openxmlformats.org/officeDocument/2006/relationships/image" Target="../media/image18.png"/><Relationship Id="rId6" Type="http://schemas.openxmlformats.org/officeDocument/2006/relationships/image" Target="../media/image10.svg"/><Relationship Id="rId5" Type="http://schemas.openxmlformats.org/officeDocument/2006/relationships/image" Target="../media/image17.png"/><Relationship Id="rId4" Type="http://schemas.openxmlformats.org/officeDocument/2006/relationships/image" Target="../media/image15.svg"/><Relationship Id="rId3" Type="http://schemas.openxmlformats.org/officeDocument/2006/relationships/image" Target="../media/image16.png"/><Relationship Id="rId2" Type="http://schemas.openxmlformats.org/officeDocument/2006/relationships/image" Target="../media/image6.svg"/><Relationship Id="rId12" Type="http://schemas.openxmlformats.org/officeDocument/2006/relationships/slideLayout" Target="../slideLayouts/slideLayout7.xml"/><Relationship Id="rId11" Type="http://schemas.openxmlformats.org/officeDocument/2006/relationships/image" Target="../media/image35.png"/><Relationship Id="rId10" Type="http://schemas.openxmlformats.org/officeDocument/2006/relationships/image" Target="../media/image34.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image" Target="../media/image10.svg"/><Relationship Id="rId7" Type="http://schemas.openxmlformats.org/officeDocument/2006/relationships/image" Target="../media/image17.png"/><Relationship Id="rId6" Type="http://schemas.openxmlformats.org/officeDocument/2006/relationships/image" Target="../media/image15.svg"/><Relationship Id="rId5" Type="http://schemas.openxmlformats.org/officeDocument/2006/relationships/image" Target="../media/image16.png"/><Relationship Id="rId4" Type="http://schemas.openxmlformats.org/officeDocument/2006/relationships/image" Target="../media/image13.svg"/><Relationship Id="rId3" Type="http://schemas.openxmlformats.org/officeDocument/2006/relationships/image" Target="../media/image18.png"/><Relationship Id="rId2" Type="http://schemas.openxmlformats.org/officeDocument/2006/relationships/image" Target="../media/image6.svg"/><Relationship Id="rId13" Type="http://schemas.openxmlformats.org/officeDocument/2006/relationships/slideLayout" Target="../slideLayouts/slideLayout7.xml"/><Relationship Id="rId12" Type="http://schemas.openxmlformats.org/officeDocument/2006/relationships/image" Target="../media/image39.png"/><Relationship Id="rId11" Type="http://schemas.openxmlformats.org/officeDocument/2006/relationships/image" Target="../media/image38.png"/><Relationship Id="rId10" Type="http://schemas.openxmlformats.org/officeDocument/2006/relationships/image" Target="../media/image37.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0.svg"/><Relationship Id="rId7" Type="http://schemas.openxmlformats.org/officeDocument/2006/relationships/image" Target="../media/image17.png"/><Relationship Id="rId6" Type="http://schemas.openxmlformats.org/officeDocument/2006/relationships/image" Target="../media/image15.svg"/><Relationship Id="rId5" Type="http://schemas.openxmlformats.org/officeDocument/2006/relationships/image" Target="../media/image16.png"/><Relationship Id="rId4" Type="http://schemas.openxmlformats.org/officeDocument/2006/relationships/image" Target="../media/image13.svg"/><Relationship Id="rId3" Type="http://schemas.openxmlformats.org/officeDocument/2006/relationships/image" Target="../media/image18.png"/><Relationship Id="rId2" Type="http://schemas.openxmlformats.org/officeDocument/2006/relationships/image" Target="../media/image6.svg"/><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084690" y="2300916"/>
            <a:ext cx="2544433" cy="2544433"/>
          </a:xfrm>
          <a:custGeom>
            <a:avLst/>
            <a:gdLst/>
            <a:ahLst/>
            <a:cxnLst/>
            <a:rect l="l" t="t" r="r" b="b"/>
            <a:pathLst>
              <a:path w="2544433" h="2544433">
                <a:moveTo>
                  <a:pt x="0" y="0"/>
                </a:moveTo>
                <a:lnTo>
                  <a:pt x="2544433" y="0"/>
                </a:lnTo>
                <a:lnTo>
                  <a:pt x="2544433" y="2544433"/>
                </a:lnTo>
                <a:lnTo>
                  <a:pt x="0" y="254443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0">
            <a:off x="-1178419" y="4362776"/>
            <a:ext cx="2594369" cy="4588246"/>
            <a:chOff x="0" y="0"/>
            <a:chExt cx="683291" cy="1208427"/>
          </a:xfrm>
        </p:grpSpPr>
        <p:sp>
          <p:nvSpPr>
            <p:cNvPr id="4" name="Freeform 4"/>
            <p:cNvSpPr/>
            <p:nvPr/>
          </p:nvSpPr>
          <p:spPr>
            <a:xfrm>
              <a:off x="0" y="0"/>
              <a:ext cx="683291" cy="1208427"/>
            </a:xfrm>
            <a:custGeom>
              <a:avLst/>
              <a:gdLst/>
              <a:ahLst/>
              <a:cxnLst/>
              <a:rect l="l" t="t" r="r" b="b"/>
              <a:pathLst>
                <a:path w="683291" h="1208427">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solidFill>
          </p:spPr>
        </p:sp>
        <p:sp>
          <p:nvSpPr>
            <p:cNvPr id="5" name="TextBox 5"/>
            <p:cNvSpPr txBox="1"/>
            <p:nvPr/>
          </p:nvSpPr>
          <p:spPr>
            <a:xfrm>
              <a:off x="0" y="-47625"/>
              <a:ext cx="683291" cy="1256052"/>
            </a:xfrm>
            <a:prstGeom prst="rect">
              <a:avLst/>
            </a:prstGeom>
          </p:spPr>
          <p:txBody>
            <a:bodyPr lIns="50800" tIns="50800" rIns="50800" bIns="50800" rtlCol="0" anchor="ctr"/>
            <a:lstStyle/>
            <a:p>
              <a:pPr algn="ctr">
                <a:lnSpc>
                  <a:spcPts val="2800"/>
                </a:lnSpc>
              </a:pPr>
            </a:p>
          </p:txBody>
        </p:sp>
      </p:grpSp>
      <p:sp>
        <p:nvSpPr>
          <p:cNvPr id="6" name="Freeform 6"/>
          <p:cNvSpPr/>
          <p:nvPr/>
        </p:nvSpPr>
        <p:spPr>
          <a:xfrm>
            <a:off x="13731511" y="1434222"/>
            <a:ext cx="305535" cy="302202"/>
          </a:xfrm>
          <a:custGeom>
            <a:avLst/>
            <a:gdLst/>
            <a:ahLst/>
            <a:cxnLst/>
            <a:rect l="l" t="t" r="r" b="b"/>
            <a:pathLst>
              <a:path w="305535" h="302202">
                <a:moveTo>
                  <a:pt x="0" y="0"/>
                </a:moveTo>
                <a:lnTo>
                  <a:pt x="305535" y="0"/>
                </a:lnTo>
                <a:lnTo>
                  <a:pt x="305535" y="302203"/>
                </a:lnTo>
                <a:lnTo>
                  <a:pt x="0" y="3022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028700" y="-252231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8" name="Freeform 8"/>
          <p:cNvSpPr/>
          <p:nvPr/>
        </p:nvSpPr>
        <p:spPr>
          <a:xfrm>
            <a:off x="13218947" y="9029033"/>
            <a:ext cx="1025128" cy="1025128"/>
          </a:xfrm>
          <a:custGeom>
            <a:avLst/>
            <a:gdLst/>
            <a:ahLst/>
            <a:cxnLst/>
            <a:rect l="l" t="t" r="r" b="b"/>
            <a:pathLst>
              <a:path w="1025128" h="1025128">
                <a:moveTo>
                  <a:pt x="0" y="0"/>
                </a:moveTo>
                <a:lnTo>
                  <a:pt x="1025128" y="0"/>
                </a:lnTo>
                <a:lnTo>
                  <a:pt x="1025128" y="1025128"/>
                </a:lnTo>
                <a:lnTo>
                  <a:pt x="0" y="10251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6931401" y="895102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0" name="TextBox 10"/>
          <p:cNvSpPr txBox="1"/>
          <p:nvPr/>
        </p:nvSpPr>
        <p:spPr>
          <a:xfrm>
            <a:off x="1654431" y="3227113"/>
            <a:ext cx="14668740" cy="2357050"/>
          </a:xfrm>
          <a:prstGeom prst="rect">
            <a:avLst/>
          </a:prstGeom>
        </p:spPr>
        <p:txBody>
          <a:bodyPr lIns="0" tIns="0" rIns="0" bIns="0" rtlCol="0" anchor="t">
            <a:spAutoFit/>
          </a:bodyPr>
          <a:lstStyle/>
          <a:p>
            <a:pPr algn="ctr">
              <a:lnSpc>
                <a:spcPts val="6120"/>
              </a:lnSpc>
            </a:pPr>
            <a:r>
              <a:rPr lang="en-US" sz="5945"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rPr>
              <a:t>GUI TESTING+BROWSER COMPATIBILITY+LIN</a:t>
            </a:r>
            <a:r>
              <a:rPr lang="en-US" sz="5945"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rPr>
              <a:t>k Checker Usability and User Experience (UX) Testing tools</a:t>
            </a:r>
            <a:endParaRPr lang="en-US" sz="5945"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endParaRPr>
          </a:p>
        </p:txBody>
      </p:sp>
      <p:sp>
        <p:nvSpPr>
          <p:cNvPr id="11" name="Freeform 11"/>
          <p:cNvSpPr/>
          <p:nvPr/>
        </p:nvSpPr>
        <p:spPr>
          <a:xfrm>
            <a:off x="15886540" y="549955"/>
            <a:ext cx="806841" cy="564789"/>
          </a:xfrm>
          <a:custGeom>
            <a:avLst/>
            <a:gdLst/>
            <a:ahLst/>
            <a:cxnLst/>
            <a:rect l="l" t="t" r="r" b="b"/>
            <a:pathLst>
              <a:path w="806841" h="564789">
                <a:moveTo>
                  <a:pt x="0" y="0"/>
                </a:moveTo>
                <a:lnTo>
                  <a:pt x="806841" y="0"/>
                </a:lnTo>
                <a:lnTo>
                  <a:pt x="806841" y="564788"/>
                </a:lnTo>
                <a:lnTo>
                  <a:pt x="0" y="56478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Freeform 12"/>
          <p:cNvSpPr/>
          <p:nvPr/>
        </p:nvSpPr>
        <p:spPr>
          <a:xfrm>
            <a:off x="2412807" y="8799767"/>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5739303" y="5927063"/>
            <a:ext cx="7992208" cy="3944944"/>
          </a:xfrm>
          <a:prstGeom prst="rect">
            <a:avLst/>
          </a:prstGeom>
        </p:spPr>
        <p:txBody>
          <a:bodyPr lIns="0" tIns="0" rIns="0" bIns="0" rtlCol="0" anchor="t">
            <a:spAutoFit/>
          </a:bodyPr>
          <a:lstStyle/>
          <a:p>
            <a:pPr algn="l">
              <a:lnSpc>
                <a:spcPts val="5240"/>
              </a:lnSpc>
            </a:pPr>
          </a:p>
          <a:p>
            <a:pPr algn="l">
              <a:lnSpc>
                <a:spcPts val="5240"/>
              </a:lnSpc>
            </a:pPr>
            <a:r>
              <a:rPr lang="en-US" sz="4000" b="1">
                <a:solidFill>
                  <a:srgbClr val="021828"/>
                </a:solidFill>
                <a:latin typeface="Barlow Condensed Bold" panose="00000806000000000000"/>
                <a:ea typeface="Barlow Condensed Bold" panose="00000806000000000000"/>
                <a:cs typeface="Barlow Condensed Bold" panose="00000806000000000000"/>
                <a:sym typeface="Barlow Condensed Bold" panose="00000806000000000000"/>
              </a:rPr>
              <a:t>Lớp: 11_CNPM2</a:t>
            </a:r>
            <a:endParaRPr lang="en-US" sz="4000" b="1">
              <a:solidFill>
                <a:srgbClr val="021828"/>
              </a:solidFill>
              <a:latin typeface="Barlow Condensed Bold" panose="00000806000000000000"/>
              <a:ea typeface="Barlow Condensed Bold" panose="00000806000000000000"/>
              <a:cs typeface="Barlow Condensed Bold" panose="00000806000000000000"/>
              <a:sym typeface="Barlow Condensed Bold" panose="00000806000000000000"/>
            </a:endParaRPr>
          </a:p>
          <a:p>
            <a:pPr algn="l">
              <a:lnSpc>
                <a:spcPts val="5240"/>
              </a:lnSpc>
            </a:pPr>
            <a:r>
              <a:rPr lang="en-US" sz="4000" b="1">
                <a:solidFill>
                  <a:srgbClr val="021828"/>
                </a:solidFill>
                <a:latin typeface="Barlow Condensed Bold" panose="00000806000000000000"/>
                <a:ea typeface="Barlow Condensed Bold" panose="00000806000000000000"/>
                <a:cs typeface="Barlow Condensed Bold" panose="00000806000000000000"/>
                <a:sym typeface="Barlow Condensed Bold" panose="00000806000000000000"/>
              </a:rPr>
              <a:t>Sinh viên thực hiện: </a:t>
            </a:r>
            <a:endParaRPr lang="en-US" sz="4000" b="1">
              <a:solidFill>
                <a:srgbClr val="021828"/>
              </a:solidFill>
              <a:latin typeface="Barlow Condensed Bold" panose="00000806000000000000"/>
              <a:ea typeface="Barlow Condensed Bold" panose="00000806000000000000"/>
              <a:cs typeface="Barlow Condensed Bold" panose="00000806000000000000"/>
              <a:sym typeface="Barlow Condensed Bold" panose="00000806000000000000"/>
            </a:endParaRPr>
          </a:p>
          <a:p>
            <a:pPr algn="l">
              <a:lnSpc>
                <a:spcPts val="5240"/>
              </a:lnSpc>
            </a:pPr>
            <a:r>
              <a:rPr lang="en-US" sz="4000" b="1">
                <a:solidFill>
                  <a:srgbClr val="021828"/>
                </a:solidFill>
                <a:latin typeface="Barlow Condensed Bold" panose="00000806000000000000"/>
                <a:ea typeface="Barlow Condensed Bold" panose="00000806000000000000"/>
                <a:cs typeface="Barlow Condensed Bold" panose="00000806000000000000"/>
                <a:sym typeface="Barlow Condensed Bold" panose="00000806000000000000"/>
              </a:rPr>
              <a:t>     Phan Thị Ái My - 1150080106 </a:t>
            </a:r>
            <a:endParaRPr lang="en-US" sz="4000" b="1">
              <a:solidFill>
                <a:srgbClr val="021828"/>
              </a:solidFill>
              <a:latin typeface="Barlow Condensed Bold" panose="00000806000000000000"/>
              <a:ea typeface="Barlow Condensed Bold" panose="00000806000000000000"/>
              <a:cs typeface="Barlow Condensed Bold" panose="00000806000000000000"/>
              <a:sym typeface="Barlow Condensed Bold" panose="00000806000000000000"/>
            </a:endParaRPr>
          </a:p>
          <a:p>
            <a:pPr algn="l">
              <a:lnSpc>
                <a:spcPts val="5240"/>
              </a:lnSpc>
            </a:pPr>
            <a:r>
              <a:rPr lang="en-US" sz="4000" b="1">
                <a:solidFill>
                  <a:srgbClr val="021828"/>
                </a:solidFill>
                <a:latin typeface="Barlow Condensed Bold" panose="00000806000000000000"/>
                <a:ea typeface="Barlow Condensed Bold" panose="00000806000000000000"/>
                <a:cs typeface="Barlow Condensed Bold" panose="00000806000000000000"/>
                <a:sym typeface="Barlow Condensed Bold" panose="00000806000000000000"/>
              </a:rPr>
              <a:t>GVHD: ThS. Phạm Trọng Huynh</a:t>
            </a:r>
            <a:endParaRPr lang="en-US" sz="4000" b="1">
              <a:solidFill>
                <a:srgbClr val="021828"/>
              </a:solidFill>
              <a:latin typeface="Barlow Condensed Bold" panose="00000806000000000000"/>
              <a:ea typeface="Barlow Condensed Bold" panose="00000806000000000000"/>
              <a:cs typeface="Barlow Condensed Bold" panose="00000806000000000000"/>
              <a:sym typeface="Barlow Condensed Bold" panose="00000806000000000000"/>
            </a:endParaRPr>
          </a:p>
          <a:p>
            <a:pPr algn="l">
              <a:lnSpc>
                <a:spcPts val="5240"/>
              </a:lnSpc>
            </a:pPr>
          </a:p>
        </p:txBody>
      </p:sp>
      <p:sp>
        <p:nvSpPr>
          <p:cNvPr id="14" name="Freeform 14"/>
          <p:cNvSpPr/>
          <p:nvPr/>
        </p:nvSpPr>
        <p:spPr>
          <a:xfrm>
            <a:off x="14081306" y="8799767"/>
            <a:ext cx="4417310" cy="4417310"/>
          </a:xfrm>
          <a:custGeom>
            <a:avLst/>
            <a:gdLst/>
            <a:ahLst/>
            <a:cxnLst/>
            <a:rect l="l" t="t" r="r" b="b"/>
            <a:pathLst>
              <a:path w="4417310" h="4417310">
                <a:moveTo>
                  <a:pt x="0" y="0"/>
                </a:moveTo>
                <a:lnTo>
                  <a:pt x="4417310" y="0"/>
                </a:lnTo>
                <a:lnTo>
                  <a:pt x="4417310" y="4417310"/>
                </a:lnTo>
                <a:lnTo>
                  <a:pt x="0" y="44173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5" name="TextBox 15"/>
          <p:cNvSpPr txBox="1"/>
          <p:nvPr/>
        </p:nvSpPr>
        <p:spPr>
          <a:xfrm>
            <a:off x="634303" y="580891"/>
            <a:ext cx="14668740" cy="2156903"/>
          </a:xfrm>
          <a:prstGeom prst="rect">
            <a:avLst/>
          </a:prstGeom>
        </p:spPr>
        <p:txBody>
          <a:bodyPr lIns="0" tIns="0" rIns="0" bIns="0" rtlCol="0" anchor="t">
            <a:spAutoFit/>
          </a:bodyPr>
          <a:lstStyle/>
          <a:p>
            <a:pPr algn="ctr">
              <a:lnSpc>
                <a:spcPts val="8385"/>
              </a:lnSpc>
            </a:pPr>
            <a:r>
              <a:rPr lang="en-US" sz="8145"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rPr>
              <a:t>ĐẢM BẢO CHẤT LƯỢNG &amp; KIỂM THỬ PHẦN MỀM</a:t>
            </a:r>
            <a:endParaRPr lang="en-US" sz="8145"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349898" y="6750613"/>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0">
            <a:off x="-5431494" y="2356773"/>
            <a:ext cx="5650143" cy="5894830"/>
            <a:chOff x="0" y="0"/>
            <a:chExt cx="1488104" cy="1552548"/>
          </a:xfrm>
        </p:grpSpPr>
        <p:sp>
          <p:nvSpPr>
            <p:cNvPr id="4" name="Freeform 4"/>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p:cNvSpPr txBox="1"/>
            <p:nvPr/>
          </p:nvSpPr>
          <p:spPr>
            <a:xfrm>
              <a:off x="0" y="-47625"/>
              <a:ext cx="1488104" cy="1600173"/>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639767" y="143639"/>
            <a:ext cx="1166621" cy="116662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800"/>
                </a:lnSpc>
              </a:pPr>
            </a:p>
          </p:txBody>
        </p:sp>
      </p:grpSp>
      <p:sp>
        <p:nvSpPr>
          <p:cNvPr id="9" name="Freeform 9"/>
          <p:cNvSpPr/>
          <p:nvPr/>
        </p:nvSpPr>
        <p:spPr>
          <a:xfrm>
            <a:off x="1028700" y="413183"/>
            <a:ext cx="411708" cy="615517"/>
          </a:xfrm>
          <a:custGeom>
            <a:avLst/>
            <a:gdLst/>
            <a:ahLst/>
            <a:cxnLst/>
            <a:rect l="l" t="t" r="r" b="b"/>
            <a:pathLst>
              <a:path w="411708" h="615517">
                <a:moveTo>
                  <a:pt x="0" y="0"/>
                </a:moveTo>
                <a:lnTo>
                  <a:pt x="411708" y="0"/>
                </a:lnTo>
                <a:lnTo>
                  <a:pt x="411708" y="615517"/>
                </a:lnTo>
                <a:lnTo>
                  <a:pt x="0" y="61551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5712871" y="9063896"/>
            <a:ext cx="2763919" cy="882511"/>
          </a:xfrm>
          <a:custGeom>
            <a:avLst/>
            <a:gdLst/>
            <a:ahLst/>
            <a:cxnLst/>
            <a:rect l="l" t="t" r="r" b="b"/>
            <a:pathLst>
              <a:path w="2763919" h="882511">
                <a:moveTo>
                  <a:pt x="0" y="0"/>
                </a:moveTo>
                <a:lnTo>
                  <a:pt x="2763919" y="0"/>
                </a:lnTo>
                <a:lnTo>
                  <a:pt x="2763919" y="882511"/>
                </a:lnTo>
                <a:lnTo>
                  <a:pt x="0" y="88251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418981" y="1551062"/>
            <a:ext cx="8725019" cy="9627209"/>
          </a:xfrm>
          <a:prstGeom prst="rect">
            <a:avLst/>
          </a:prstGeom>
        </p:spPr>
        <p:txBody>
          <a:bodyPr lIns="0" tIns="0" rIns="0" bIns="0" rtlCol="0" anchor="t">
            <a:spAutoFit/>
          </a:bodyPr>
          <a:lstStyle/>
          <a:p>
            <a:pPr algn="just">
              <a:lnSpc>
                <a:spcPts val="3360"/>
              </a:lnSpc>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Ứng dụng được kiểm thử</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Hệ thống đặt vé xe trực tuyến MyTrip (Web Application)</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Các chức năng chính:</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Đăng ký / đăng nhập</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Tìm chuyến xe</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Điều hướng &amp; giao diện người dùng</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 Tập trung kiểm thử giao diện và trải nghiệm</a:t>
            </a: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 người</a:t>
            </a: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 dùng</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3360"/>
              </a:lnSpc>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Phạm vi kiểm thử </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GUI Testing → kiểm tra giao diện, form, layout</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Browser Compatibility → Chrome, Edge</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Link Checker → kiểm tra navigation, link giữa các trang</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UX Testing → đánh giá theo 10 nguyên tắc Nielsen</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3360"/>
              </a:lnSpc>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Mục tiêu của đề tài</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Áp dụng tool + kỹ thuật kiểm thử thực tế</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Đánh giá:</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Tính đúng đắn của hệ thống</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Khả năng tương thích trình duyệt</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Trải nghiệm người dùng</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Phát hiện lỗi UI/UX &amp; cải thiện hệ thống</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3360"/>
              </a:lnSpc>
            </a:pPr>
          </a:p>
          <a:p>
            <a:pPr algn="just">
              <a:lnSpc>
                <a:spcPts val="3360"/>
              </a:lnSpc>
            </a:pPr>
          </a:p>
          <a:p>
            <a:pPr algn="just">
              <a:lnSpc>
                <a:spcPts val="3360"/>
              </a:lnSpc>
            </a:pPr>
          </a:p>
          <a:p>
            <a:pPr algn="just">
              <a:lnSpc>
                <a:spcPts val="3360"/>
              </a:lnSpc>
            </a:pPr>
          </a:p>
        </p:txBody>
      </p:sp>
      <p:sp>
        <p:nvSpPr>
          <p:cNvPr id="12" name="TextBox 12"/>
          <p:cNvSpPr txBox="1"/>
          <p:nvPr/>
        </p:nvSpPr>
        <p:spPr>
          <a:xfrm>
            <a:off x="-1864436" y="267464"/>
            <a:ext cx="11826824" cy="1042796"/>
          </a:xfrm>
          <a:prstGeom prst="rect">
            <a:avLst/>
          </a:prstGeom>
        </p:spPr>
        <p:txBody>
          <a:bodyPr lIns="0" tIns="0" rIns="0" bIns="0" rtlCol="0" anchor="t">
            <a:spAutoFit/>
          </a:bodyPr>
          <a:lstStyle/>
          <a:p>
            <a:pPr algn="ctr">
              <a:lnSpc>
                <a:spcPts val="7935"/>
              </a:lnSpc>
            </a:pPr>
            <a:r>
              <a:rPr lang="en-US" sz="7705"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rPr>
              <a:t>TỔNG QUAN</a:t>
            </a:r>
            <a:endParaRPr lang="en-US" sz="7705"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endParaRPr>
          </a:p>
        </p:txBody>
      </p:sp>
      <p:sp>
        <p:nvSpPr>
          <p:cNvPr id="13" name="TextBox 13"/>
          <p:cNvSpPr txBox="1"/>
          <p:nvPr/>
        </p:nvSpPr>
        <p:spPr>
          <a:xfrm>
            <a:off x="9144000" y="981075"/>
            <a:ext cx="8725019" cy="9627209"/>
          </a:xfrm>
          <a:prstGeom prst="rect">
            <a:avLst/>
          </a:prstGeom>
        </p:spPr>
        <p:txBody>
          <a:bodyPr lIns="0" tIns="0" rIns="0" bIns="0" rtlCol="0" anchor="t">
            <a:spAutoFit/>
          </a:bodyPr>
          <a:lstStyle/>
          <a:p>
            <a:pPr algn="just">
              <a:lnSpc>
                <a:spcPts val="3360"/>
              </a:lnSpc>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Kỹ thuật kiểm thử áp dụng</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Black-box testing</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P</a:t>
            </a: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hân hoạch tương đương (EP)</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G</a:t>
            </a: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iá trị biên (BVA)</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Bảng quyết định (Decisio</a:t>
            </a: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n</a:t>
            </a: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 Table)</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White-box testing</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Statement coverage</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Branch coverage</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Path coverage</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UX Testing</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Áp dụng 10 nguyên tắc Nielsen</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Automation Testing</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Sele</a:t>
            </a: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nium (GUI + regression test)</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3360"/>
              </a:lnSpc>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Kế hoạch thực hiện</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Thiết kế test case (EP, BVA, White-box…)</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Thực hiện:</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Manual test</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Automation test (Selenium)</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1036320" lvl="2" indent="-34544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Compatibility test</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Performance test (JMeter)</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518160" lvl="1" indent="-259080" algn="just">
              <a:lnSpc>
                <a:spcPts val="3360"/>
              </a:lnSpc>
              <a:buFont typeface="Arial" panose="020B0604020202020204"/>
              <a:buChar char="•"/>
            </a:pPr>
            <a:r>
              <a:rPr lang="en-US" sz="2400" b="1">
                <a:solidFill>
                  <a:srgbClr val="021828"/>
                </a:solidFill>
                <a:latin typeface="Aileron Bold" panose="00000800000000000000"/>
                <a:ea typeface="Aileron Bold" panose="00000800000000000000"/>
                <a:cs typeface="Aileron Bold" panose="00000800000000000000"/>
                <a:sym typeface="Aileron Bold" panose="00000800000000000000"/>
              </a:rPr>
              <a:t>Tổng hợp kết quả &amp; báo cáo bug</a:t>
            </a:r>
            <a:endParaRPr lang="en-US" sz="2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3360"/>
              </a:lnSpc>
            </a:pPr>
          </a:p>
          <a:p>
            <a:pPr algn="just">
              <a:lnSpc>
                <a:spcPts val="3360"/>
              </a:lnSpc>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349898" y="6750613"/>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0">
            <a:off x="-5207161" y="2753512"/>
            <a:ext cx="5650143" cy="5894830"/>
            <a:chOff x="0" y="0"/>
            <a:chExt cx="1488104" cy="1552548"/>
          </a:xfrm>
        </p:grpSpPr>
        <p:sp>
          <p:nvSpPr>
            <p:cNvPr id="4" name="Freeform 4"/>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p:cNvSpPr txBox="1"/>
            <p:nvPr/>
          </p:nvSpPr>
          <p:spPr>
            <a:xfrm>
              <a:off x="0" y="-47625"/>
              <a:ext cx="1488104" cy="1600173"/>
            </a:xfrm>
            <a:prstGeom prst="rect">
              <a:avLst/>
            </a:prstGeom>
          </p:spPr>
          <p:txBody>
            <a:bodyPr lIns="50800" tIns="50800" rIns="50800" bIns="50800" rtlCol="0" anchor="ctr"/>
            <a:lstStyle/>
            <a:p>
              <a:pPr algn="ctr">
                <a:lnSpc>
                  <a:spcPts val="2800"/>
                </a:lnSpc>
              </a:pPr>
            </a:p>
          </p:txBody>
        </p:sp>
      </p:grpSp>
      <p:sp>
        <p:nvSpPr>
          <p:cNvPr id="6" name="Freeform 6"/>
          <p:cNvSpPr/>
          <p:nvPr/>
        </p:nvSpPr>
        <p:spPr>
          <a:xfrm>
            <a:off x="5712871" y="9063896"/>
            <a:ext cx="2763919" cy="882511"/>
          </a:xfrm>
          <a:custGeom>
            <a:avLst/>
            <a:gdLst/>
            <a:ahLst/>
            <a:cxnLst/>
            <a:rect l="l" t="t" r="r" b="b"/>
            <a:pathLst>
              <a:path w="2763919" h="882511">
                <a:moveTo>
                  <a:pt x="0" y="0"/>
                </a:moveTo>
                <a:lnTo>
                  <a:pt x="2763919" y="0"/>
                </a:lnTo>
                <a:lnTo>
                  <a:pt x="2763919" y="882511"/>
                </a:lnTo>
                <a:lnTo>
                  <a:pt x="0" y="8825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8838756" y="9275885"/>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8" name="Group 8"/>
          <p:cNvGrpSpPr/>
          <p:nvPr/>
        </p:nvGrpSpPr>
        <p:grpSpPr>
          <a:xfrm rot="0">
            <a:off x="166389" y="0"/>
            <a:ext cx="1166621" cy="116662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800"/>
                </a:lnSpc>
              </a:pPr>
            </a:p>
          </p:txBody>
        </p:sp>
      </p:grpSp>
      <p:sp>
        <p:nvSpPr>
          <p:cNvPr id="11" name="Freeform 11"/>
          <p:cNvSpPr/>
          <p:nvPr/>
        </p:nvSpPr>
        <p:spPr>
          <a:xfrm>
            <a:off x="555323" y="269544"/>
            <a:ext cx="411708" cy="615517"/>
          </a:xfrm>
          <a:custGeom>
            <a:avLst/>
            <a:gdLst/>
            <a:ahLst/>
            <a:cxnLst/>
            <a:rect l="l" t="t" r="r" b="b"/>
            <a:pathLst>
              <a:path w="411708" h="615517">
                <a:moveTo>
                  <a:pt x="0" y="0"/>
                </a:moveTo>
                <a:lnTo>
                  <a:pt x="411708" y="0"/>
                </a:lnTo>
                <a:lnTo>
                  <a:pt x="411708" y="615517"/>
                </a:lnTo>
                <a:lnTo>
                  <a:pt x="0" y="61551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Freeform 12"/>
          <p:cNvSpPr/>
          <p:nvPr/>
        </p:nvSpPr>
        <p:spPr>
          <a:xfrm>
            <a:off x="166389" y="1160191"/>
            <a:ext cx="6400018" cy="6779534"/>
          </a:xfrm>
          <a:custGeom>
            <a:avLst/>
            <a:gdLst/>
            <a:ahLst/>
            <a:cxnLst/>
            <a:rect l="l" t="t" r="r" b="b"/>
            <a:pathLst>
              <a:path w="6400018" h="6779534">
                <a:moveTo>
                  <a:pt x="0" y="0"/>
                </a:moveTo>
                <a:lnTo>
                  <a:pt x="6400019" y="0"/>
                </a:lnTo>
                <a:lnTo>
                  <a:pt x="6400019" y="6779534"/>
                </a:lnTo>
                <a:lnTo>
                  <a:pt x="0" y="6779534"/>
                </a:lnTo>
                <a:lnTo>
                  <a:pt x="0" y="0"/>
                </a:lnTo>
                <a:close/>
              </a:path>
            </a:pathLst>
          </a:custGeom>
          <a:blipFill>
            <a:blip r:embed="rId9"/>
            <a:stretch>
              <a:fillRect/>
            </a:stretch>
          </a:blipFill>
        </p:spPr>
      </p:sp>
      <p:sp>
        <p:nvSpPr>
          <p:cNvPr id="13" name="Freeform 13"/>
          <p:cNvSpPr/>
          <p:nvPr/>
        </p:nvSpPr>
        <p:spPr>
          <a:xfrm>
            <a:off x="442982" y="8082600"/>
            <a:ext cx="5916503" cy="2035786"/>
          </a:xfrm>
          <a:custGeom>
            <a:avLst/>
            <a:gdLst/>
            <a:ahLst/>
            <a:cxnLst/>
            <a:rect l="l" t="t" r="r" b="b"/>
            <a:pathLst>
              <a:path w="5916503" h="2035786">
                <a:moveTo>
                  <a:pt x="0" y="0"/>
                </a:moveTo>
                <a:lnTo>
                  <a:pt x="5916503" y="0"/>
                </a:lnTo>
                <a:lnTo>
                  <a:pt x="5916503" y="2035786"/>
                </a:lnTo>
                <a:lnTo>
                  <a:pt x="0" y="2035786"/>
                </a:lnTo>
                <a:lnTo>
                  <a:pt x="0" y="0"/>
                </a:lnTo>
                <a:close/>
              </a:path>
            </a:pathLst>
          </a:custGeom>
          <a:blipFill>
            <a:blip r:embed="rId10"/>
            <a:stretch>
              <a:fillRect/>
            </a:stretch>
          </a:blipFill>
        </p:spPr>
      </p:sp>
      <p:sp>
        <p:nvSpPr>
          <p:cNvPr id="14" name="Freeform 14"/>
          <p:cNvSpPr/>
          <p:nvPr/>
        </p:nvSpPr>
        <p:spPr>
          <a:xfrm>
            <a:off x="8184979" y="3655105"/>
            <a:ext cx="7030370" cy="6079312"/>
          </a:xfrm>
          <a:custGeom>
            <a:avLst/>
            <a:gdLst/>
            <a:ahLst/>
            <a:cxnLst/>
            <a:rect l="l" t="t" r="r" b="b"/>
            <a:pathLst>
              <a:path w="7030370" h="6079312">
                <a:moveTo>
                  <a:pt x="0" y="0"/>
                </a:moveTo>
                <a:lnTo>
                  <a:pt x="7030370" y="0"/>
                </a:lnTo>
                <a:lnTo>
                  <a:pt x="7030370" y="6079313"/>
                </a:lnTo>
                <a:lnTo>
                  <a:pt x="0" y="6079313"/>
                </a:lnTo>
                <a:lnTo>
                  <a:pt x="0" y="0"/>
                </a:lnTo>
                <a:close/>
              </a:path>
            </a:pathLst>
          </a:custGeom>
          <a:blipFill>
            <a:blip r:embed="rId11"/>
            <a:stretch>
              <a:fillRect/>
            </a:stretch>
          </a:blipFill>
        </p:spPr>
      </p:sp>
      <p:sp>
        <p:nvSpPr>
          <p:cNvPr id="15" name="TextBox 15"/>
          <p:cNvSpPr txBox="1"/>
          <p:nvPr/>
        </p:nvSpPr>
        <p:spPr>
          <a:xfrm>
            <a:off x="6680708" y="1029742"/>
            <a:ext cx="11607292" cy="2816441"/>
          </a:xfrm>
          <a:prstGeom prst="rect">
            <a:avLst/>
          </a:prstGeom>
        </p:spPr>
        <p:txBody>
          <a:bodyPr lIns="0" tIns="0" rIns="0" bIns="0" rtlCol="0" anchor="t">
            <a:spAutoFit/>
          </a:bodyPr>
          <a:lstStyle/>
          <a:p>
            <a:pPr algn="just">
              <a:lnSpc>
                <a:spcPts val="2800"/>
              </a:lnSpc>
            </a:pPr>
          </a:p>
          <a:p>
            <a:pPr algn="just">
              <a:lnSpc>
                <a:spcPts val="2800"/>
              </a:lnSpc>
            </a:pPr>
            <a:r>
              <a:rPr lang="en-US" sz="2000" b="1">
                <a:solidFill>
                  <a:srgbClr val="021828"/>
                </a:solidFill>
                <a:latin typeface="Aileron Bold" panose="00000800000000000000"/>
                <a:ea typeface="Aileron Bold" panose="00000800000000000000"/>
                <a:cs typeface="Aileron Bold" panose="00000800000000000000"/>
                <a:sym typeface="Aileron Bold" panose="00000800000000000000"/>
              </a:rPr>
              <a:t>Kiểm thử hộp đen (Black-box): Phân hoạch tương đương (EP) &amp; Giá trị biên (BVA)</a:t>
            </a:r>
            <a:endParaRPr lang="en-US" sz="20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2800"/>
              </a:lnSpc>
            </a:pPr>
            <a:r>
              <a:rPr lang="en-US" sz="2000" b="1">
                <a:solidFill>
                  <a:srgbClr val="021828"/>
                </a:solidFill>
                <a:latin typeface="Aileron Bold" panose="00000800000000000000"/>
                <a:ea typeface="Aileron Bold" panose="00000800000000000000"/>
                <a:cs typeface="Aileron Bold" panose="00000800000000000000"/>
                <a:sym typeface="Aileron Bold" panose="00000800000000000000"/>
              </a:rPr>
              <a:t>EP và BAV </a:t>
            </a:r>
            <a:r>
              <a:rPr lang="en-US" sz="2000" b="1">
                <a:solidFill>
                  <a:srgbClr val="021828"/>
                </a:solidFill>
                <a:latin typeface="Aileron Bold" panose="00000800000000000000"/>
                <a:ea typeface="Aileron Bold" panose="00000800000000000000"/>
                <a:cs typeface="Aileron Bold" panose="00000800000000000000"/>
                <a:sym typeface="Aileron Bold" panose="00000800000000000000"/>
              </a:rPr>
              <a:t>được thực hiện cho form đăng ký của MyTrip, gồm các trường: Username, Email, SĐT, Password, Confirm Password.</a:t>
            </a:r>
            <a:endParaRPr lang="en-US" sz="20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2800"/>
              </a:lnSpc>
            </a:pPr>
            <a:r>
              <a:rPr lang="en-US" sz="2000" b="1">
                <a:solidFill>
                  <a:srgbClr val="021828"/>
                </a:solidFill>
                <a:latin typeface="Aileron Bold" panose="00000800000000000000"/>
                <a:ea typeface="Aileron Bold" panose="00000800000000000000"/>
                <a:cs typeface="Aileron Bold" panose="00000800000000000000"/>
                <a:sym typeface="Aileron Bold" panose="00000800000000000000"/>
              </a:rPr>
              <a:t> </a:t>
            </a:r>
            <a:endParaRPr lang="en-US" sz="20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2800"/>
              </a:lnSpc>
            </a:pPr>
          </a:p>
          <a:p>
            <a:pPr algn="just">
              <a:lnSpc>
                <a:spcPts val="2800"/>
              </a:lnSpc>
            </a:pPr>
          </a:p>
          <a:p>
            <a:pPr algn="just">
              <a:lnSpc>
                <a:spcPts val="2800"/>
              </a:lnSpc>
            </a:pPr>
          </a:p>
        </p:txBody>
      </p:sp>
      <p:sp>
        <p:nvSpPr>
          <p:cNvPr id="16" name="TextBox 16"/>
          <p:cNvSpPr txBox="1"/>
          <p:nvPr/>
        </p:nvSpPr>
        <p:spPr>
          <a:xfrm>
            <a:off x="-1504579" y="203553"/>
            <a:ext cx="11826824" cy="873814"/>
          </a:xfrm>
          <a:prstGeom prst="rect">
            <a:avLst/>
          </a:prstGeom>
        </p:spPr>
        <p:txBody>
          <a:bodyPr lIns="0" tIns="0" rIns="0" bIns="0" rtlCol="0" anchor="t">
            <a:spAutoFit/>
          </a:bodyPr>
          <a:lstStyle/>
          <a:p>
            <a:pPr algn="ctr">
              <a:lnSpc>
                <a:spcPts val="6695"/>
              </a:lnSpc>
            </a:pPr>
            <a:r>
              <a:rPr lang="en-US" sz="650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rPr>
              <a:t>THIẾT KẾ TESTCASE</a:t>
            </a:r>
            <a:endParaRPr lang="en-US" sz="650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endParaRPr>
          </a:p>
        </p:txBody>
      </p:sp>
      <p:sp>
        <p:nvSpPr>
          <p:cNvPr id="17" name="TextBox 17"/>
          <p:cNvSpPr txBox="1"/>
          <p:nvPr/>
        </p:nvSpPr>
        <p:spPr>
          <a:xfrm>
            <a:off x="6680708" y="2575524"/>
            <a:ext cx="11607292" cy="2111537"/>
          </a:xfrm>
          <a:prstGeom prst="rect">
            <a:avLst/>
          </a:prstGeom>
        </p:spPr>
        <p:txBody>
          <a:bodyPr lIns="0" tIns="0" rIns="0" bIns="0" rtlCol="0" anchor="t">
            <a:spAutoFit/>
          </a:bodyPr>
          <a:lstStyle/>
          <a:p>
            <a:pPr algn="just">
              <a:lnSpc>
                <a:spcPts val="2800"/>
              </a:lnSpc>
            </a:pPr>
            <a:r>
              <a:rPr lang="en-US" sz="2000" b="1">
                <a:solidFill>
                  <a:srgbClr val="021828"/>
                </a:solidFill>
                <a:latin typeface="Aileron Bold" panose="00000800000000000000"/>
                <a:ea typeface="Aileron Bold" panose="00000800000000000000"/>
                <a:cs typeface="Aileron Bold" panose="00000800000000000000"/>
                <a:sym typeface="Aileron Bold" panose="00000800000000000000"/>
              </a:rPr>
              <a:t>Kết quả sau khi áp dụng EP và BVA,</a:t>
            </a:r>
            <a:r>
              <a:rPr lang="en-US" sz="2000" b="1">
                <a:solidFill>
                  <a:srgbClr val="021828"/>
                </a:solidFill>
                <a:latin typeface="Aileron Bold" panose="00000800000000000000"/>
                <a:ea typeface="Aileron Bold" panose="00000800000000000000"/>
                <a:cs typeface="Aileron Bold" panose="00000800000000000000"/>
                <a:sym typeface="Aileron Bold" panose="00000800000000000000"/>
              </a:rPr>
              <a:t> em xây dựng </a:t>
            </a:r>
            <a:r>
              <a:rPr lang="en-US" sz="2000" b="1">
                <a:solidFill>
                  <a:srgbClr val="021828"/>
                </a:solidFill>
                <a:latin typeface="Aileron Bold" panose="00000800000000000000"/>
                <a:ea typeface="Aileron Bold" panose="00000800000000000000"/>
                <a:cs typeface="Aileron Bold" panose="00000800000000000000"/>
                <a:sym typeface="Aileron Bold" panose="00000800000000000000"/>
              </a:rPr>
              <a:t>được </a:t>
            </a:r>
            <a:r>
              <a:rPr lang="en-US" sz="2000" b="1">
                <a:solidFill>
                  <a:srgbClr val="E00A1D"/>
                </a:solidFill>
                <a:latin typeface="Aileron Bold" panose="00000800000000000000"/>
                <a:ea typeface="Aileron Bold" panose="00000800000000000000"/>
                <a:cs typeface="Aileron Bold" panose="00000800000000000000"/>
                <a:sym typeface="Aileron Bold" panose="00000800000000000000"/>
              </a:rPr>
              <a:t>36 test case</a:t>
            </a:r>
            <a:r>
              <a:rPr lang="en-US" sz="2000" b="1">
                <a:solidFill>
                  <a:srgbClr val="021828"/>
                </a:solidFill>
                <a:latin typeface="Aileron Bold" panose="00000800000000000000"/>
                <a:ea typeface="Aileron Bold" panose="00000800000000000000"/>
                <a:cs typeface="Aileron Bold" panose="00000800000000000000"/>
                <a:sym typeface="Aileron Bold" panose="00000800000000000000"/>
              </a:rPr>
              <a:t> cho chức năng đăng ký, bao phủ các lớp dữ liệu hợp lệ, không hợp lệ và các giá trị biên. Với cấu trúc testcase  như sau:</a:t>
            </a:r>
            <a:endParaRPr lang="en-US" sz="20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2800"/>
              </a:lnSpc>
            </a:pPr>
            <a:r>
              <a:rPr lang="en-US" sz="2000" b="1">
                <a:solidFill>
                  <a:srgbClr val="021828"/>
                </a:solidFill>
                <a:latin typeface="Aileron Bold" panose="00000800000000000000"/>
                <a:ea typeface="Aileron Bold" panose="00000800000000000000"/>
                <a:cs typeface="Aileron Bold" panose="00000800000000000000"/>
                <a:sym typeface="Aileron Bold" panose="00000800000000000000"/>
              </a:rPr>
              <a:t> </a:t>
            </a:r>
            <a:endParaRPr lang="en-US" sz="20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2800"/>
              </a:lnSpc>
            </a:pPr>
          </a:p>
          <a:p>
            <a:pPr algn="just">
              <a:lnSpc>
                <a:spcPts val="2800"/>
              </a:lnSpc>
            </a:pPr>
          </a:p>
          <a:p>
            <a:pPr algn="just">
              <a:lnSpc>
                <a:spcPts val="2800"/>
              </a:lnSpc>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349898" y="6750613"/>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0">
            <a:off x="-4021405" y="2913749"/>
            <a:ext cx="5650143" cy="5894830"/>
            <a:chOff x="0" y="0"/>
            <a:chExt cx="1488104" cy="1552548"/>
          </a:xfrm>
        </p:grpSpPr>
        <p:sp>
          <p:nvSpPr>
            <p:cNvPr id="4" name="Freeform 4"/>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p:cNvSpPr txBox="1"/>
            <p:nvPr/>
          </p:nvSpPr>
          <p:spPr>
            <a:xfrm>
              <a:off x="0" y="-47625"/>
              <a:ext cx="1488104" cy="1600173"/>
            </a:xfrm>
            <a:prstGeom prst="rect">
              <a:avLst/>
            </a:prstGeom>
          </p:spPr>
          <p:txBody>
            <a:bodyPr lIns="50800" tIns="50800" rIns="50800" bIns="50800" rtlCol="0" anchor="ctr"/>
            <a:lstStyle/>
            <a:p>
              <a:pPr algn="ctr">
                <a:lnSpc>
                  <a:spcPts val="2800"/>
                </a:lnSpc>
              </a:pPr>
            </a:p>
          </p:txBody>
        </p:sp>
      </p:grpSp>
      <p:sp>
        <p:nvSpPr>
          <p:cNvPr id="6" name="Freeform 6"/>
          <p:cNvSpPr/>
          <p:nvPr/>
        </p:nvSpPr>
        <p:spPr>
          <a:xfrm>
            <a:off x="5712871" y="9063896"/>
            <a:ext cx="2763919" cy="882511"/>
          </a:xfrm>
          <a:custGeom>
            <a:avLst/>
            <a:gdLst/>
            <a:ahLst/>
            <a:cxnLst/>
            <a:rect l="l" t="t" r="r" b="b"/>
            <a:pathLst>
              <a:path w="2763919" h="882511">
                <a:moveTo>
                  <a:pt x="0" y="0"/>
                </a:moveTo>
                <a:lnTo>
                  <a:pt x="2763919" y="0"/>
                </a:lnTo>
                <a:lnTo>
                  <a:pt x="2763919" y="882511"/>
                </a:lnTo>
                <a:lnTo>
                  <a:pt x="0" y="8825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8838756" y="9275885"/>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805680" y="1158935"/>
            <a:ext cx="11114900" cy="4543674"/>
          </a:xfrm>
          <a:prstGeom prst="rect">
            <a:avLst/>
          </a:prstGeom>
        </p:spPr>
        <p:txBody>
          <a:bodyPr lIns="0" tIns="0" rIns="0" bIns="0" rtlCol="0" anchor="t">
            <a:spAutoFit/>
          </a:bodyPr>
          <a:lstStyle/>
          <a:p>
            <a:pPr algn="just">
              <a:lnSpc>
                <a:spcPts val="2995"/>
              </a:lnSpc>
            </a:pPr>
            <a:r>
              <a:rPr lang="en-US" sz="2140" b="1">
                <a:solidFill>
                  <a:srgbClr val="021828"/>
                </a:solidFill>
                <a:latin typeface="Aileron Bold" panose="00000800000000000000"/>
                <a:ea typeface="Aileron Bold" panose="00000800000000000000"/>
                <a:cs typeface="Aileron Bold" panose="00000800000000000000"/>
                <a:sym typeface="Aileron Bold" panose="00000800000000000000"/>
              </a:rPr>
              <a:t>b) Bảng quyết định: bảng quyết định được thực hiện cho form đăng nhập của MyTrip:</a:t>
            </a:r>
            <a:endParaRPr lang="en-US" sz="214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2995"/>
              </a:lnSpc>
            </a:pPr>
            <a:r>
              <a:rPr lang="en-US" sz="2140" b="1">
                <a:solidFill>
                  <a:srgbClr val="021828"/>
                </a:solidFill>
                <a:latin typeface="Aileron Bold" panose="00000800000000000000"/>
                <a:ea typeface="Aileron Bold" panose="00000800000000000000"/>
                <a:cs typeface="Aileron Bold" panose="00000800000000000000"/>
                <a:sym typeface="Aileron Bold" panose="00000800000000000000"/>
              </a:rPr>
              <a:t>Các bước</a:t>
            </a:r>
            <a:endParaRPr lang="en-US" sz="214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462280" lvl="1" indent="-231140" algn="just">
              <a:lnSpc>
                <a:spcPts val="2995"/>
              </a:lnSpc>
              <a:buAutoNum type="arabicPeriod"/>
            </a:pPr>
            <a:r>
              <a:rPr lang="en-US" sz="2140" b="1">
                <a:solidFill>
                  <a:srgbClr val="021828"/>
                </a:solidFill>
                <a:latin typeface="Aileron Bold" panose="00000800000000000000"/>
                <a:ea typeface="Aileron Bold" panose="00000800000000000000"/>
                <a:cs typeface="Aileron Bold" panose="00000800000000000000"/>
                <a:sym typeface="Aileron Bold" panose="00000800000000000000"/>
              </a:rPr>
              <a:t>Xác định</a:t>
            </a:r>
            <a:endParaRPr lang="en-US" sz="214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923925" lvl="2" indent="-307975" algn="just">
              <a:lnSpc>
                <a:spcPts val="2995"/>
              </a:lnSpc>
              <a:buFont typeface="Arial" panose="020B0604020202020204"/>
              <a:buChar char="⚬"/>
            </a:pPr>
            <a:r>
              <a:rPr lang="en-US" sz="2140" b="1">
                <a:solidFill>
                  <a:srgbClr val="021828"/>
                </a:solidFill>
                <a:latin typeface="Aileron Bold" panose="00000800000000000000"/>
                <a:ea typeface="Aileron Bold" panose="00000800000000000000"/>
                <a:cs typeface="Aileron Bold" panose="00000800000000000000"/>
                <a:sym typeface="Aileron Bold" panose="00000800000000000000"/>
              </a:rPr>
              <a:t>4 điều kiện: Email rỗng, định dạng, mật khẩu, thông tin đúng</a:t>
            </a:r>
            <a:endParaRPr lang="en-US" sz="214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923925" lvl="2" indent="-307975" algn="just">
              <a:lnSpc>
                <a:spcPts val="2995"/>
              </a:lnSpc>
              <a:buFont typeface="Arial" panose="020B0604020202020204"/>
              <a:buChar char="⚬"/>
            </a:pPr>
            <a:r>
              <a:rPr lang="en-US" sz="2140" b="1">
                <a:solidFill>
                  <a:srgbClr val="021828"/>
                </a:solidFill>
                <a:latin typeface="Aileron Bold" panose="00000800000000000000"/>
                <a:ea typeface="Aileron Bold" panose="00000800000000000000"/>
                <a:cs typeface="Aileron Bold" panose="00000800000000000000"/>
                <a:sym typeface="Aileron Bold" panose="00000800000000000000"/>
              </a:rPr>
              <a:t>4 hành động: Thành công, thiếu dữ liệu, sai format, sai thông tin</a:t>
            </a:r>
            <a:endParaRPr lang="en-US" sz="214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462280" lvl="1" indent="-231140" algn="just">
              <a:lnSpc>
                <a:spcPts val="2995"/>
              </a:lnSpc>
              <a:buAutoNum type="arabicPeriod"/>
            </a:pPr>
            <a:r>
              <a:rPr lang="en-US" sz="2140" b="1">
                <a:solidFill>
                  <a:srgbClr val="021828"/>
                </a:solidFill>
                <a:latin typeface="Aileron Bold" panose="00000800000000000000"/>
                <a:ea typeface="Aileron Bold" panose="00000800000000000000"/>
                <a:cs typeface="Aileron Bold" panose="00000800000000000000"/>
                <a:sym typeface="Aileron Bold" panose="00000800000000000000"/>
              </a:rPr>
              <a:t>Tính rule</a:t>
            </a:r>
            <a:endParaRPr lang="en-US" sz="214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923925" lvl="2" indent="-307975" algn="just">
              <a:lnSpc>
                <a:spcPts val="2995"/>
              </a:lnSpc>
              <a:buFont typeface="Arial" panose="020B0604020202020204"/>
              <a:buChar char="⚬"/>
            </a:pPr>
            <a:r>
              <a:rPr lang="en-US" sz="2140" b="1">
                <a:solidFill>
                  <a:srgbClr val="021828"/>
                </a:solidFill>
                <a:latin typeface="Aileron Bold" panose="00000800000000000000"/>
                <a:ea typeface="Aileron Bold" panose="00000800000000000000"/>
                <a:cs typeface="Aileron Bold" panose="00000800000000000000"/>
                <a:sym typeface="Aileron Bold" panose="00000800000000000000"/>
              </a:rPr>
              <a:t>4 điều kiện → 16 trường hợp</a:t>
            </a:r>
            <a:endParaRPr lang="en-US" sz="214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462280" lvl="1" indent="-231140" algn="just">
              <a:lnSpc>
                <a:spcPts val="2995"/>
              </a:lnSpc>
              <a:buAutoNum type="arabicPeriod"/>
            </a:pPr>
            <a:r>
              <a:rPr lang="en-US" sz="2140" b="1">
                <a:solidFill>
                  <a:srgbClr val="021828"/>
                </a:solidFill>
                <a:latin typeface="Aileron Bold" panose="00000800000000000000"/>
                <a:ea typeface="Aileron Bold" panose="00000800000000000000"/>
                <a:cs typeface="Aileron Bold" panose="00000800000000000000"/>
                <a:sym typeface="Aileron Bold" panose="00000800000000000000"/>
              </a:rPr>
              <a:t>Lập bảng</a:t>
            </a:r>
            <a:endParaRPr lang="en-US" sz="214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923925" lvl="2" indent="-307975" algn="just">
              <a:lnSpc>
                <a:spcPts val="2995"/>
              </a:lnSpc>
              <a:buFont typeface="Arial" panose="020B0604020202020204"/>
              <a:buChar char="⚬"/>
            </a:pPr>
            <a:r>
              <a:rPr lang="en-US" sz="2140" b="1">
                <a:solidFill>
                  <a:srgbClr val="021828"/>
                </a:solidFill>
                <a:latin typeface="Aileron Bold" panose="00000800000000000000"/>
                <a:ea typeface="Aileron Bold" panose="00000800000000000000"/>
                <a:cs typeface="Aileron Bold" panose="00000800000000000000"/>
                <a:sym typeface="Aileron Bold" panose="00000800000000000000"/>
              </a:rPr>
              <a:t>Liệt kê tất cả các tổ hợp</a:t>
            </a:r>
            <a:endParaRPr lang="en-US" sz="214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462280" lvl="1" indent="-231140" algn="just">
              <a:lnSpc>
                <a:spcPts val="2995"/>
              </a:lnSpc>
              <a:buAutoNum type="arabicPeriod"/>
            </a:pPr>
            <a:r>
              <a:rPr lang="en-US" sz="2140" b="1">
                <a:solidFill>
                  <a:srgbClr val="021828"/>
                </a:solidFill>
                <a:latin typeface="Aileron Bold" panose="00000800000000000000"/>
                <a:ea typeface="Aileron Bold" panose="00000800000000000000"/>
                <a:cs typeface="Aileron Bold" panose="00000800000000000000"/>
                <a:sym typeface="Aileron Bold" panose="00000800000000000000"/>
              </a:rPr>
              <a:t>Rút gọn và tạo ra</a:t>
            </a:r>
            <a:r>
              <a:rPr lang="en-US" sz="2140" b="1">
                <a:solidFill>
                  <a:srgbClr val="E00A1D"/>
                </a:solidFill>
                <a:latin typeface="Aileron Bold" panose="00000800000000000000"/>
                <a:ea typeface="Aileron Bold" panose="00000800000000000000"/>
                <a:cs typeface="Aileron Bold" panose="00000800000000000000"/>
                <a:sym typeface="Aileron Bold" panose="00000800000000000000"/>
              </a:rPr>
              <a:t> 5 testcase</a:t>
            </a:r>
            <a:r>
              <a:rPr lang="en-US" sz="2140" b="1">
                <a:solidFill>
                  <a:srgbClr val="021828"/>
                </a:solidFill>
                <a:latin typeface="Aileron Bold" panose="00000800000000000000"/>
                <a:ea typeface="Aileron Bold" panose="00000800000000000000"/>
                <a:cs typeface="Aileron Bold" panose="00000800000000000000"/>
                <a:sym typeface="Aileron Bold" panose="00000800000000000000"/>
              </a:rPr>
              <a:t> tương ứng</a:t>
            </a:r>
            <a:endParaRPr lang="en-US" sz="214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2995"/>
              </a:lnSpc>
            </a:pPr>
          </a:p>
          <a:p>
            <a:pPr algn="just">
              <a:lnSpc>
                <a:spcPts val="2995"/>
              </a:lnSpc>
            </a:pPr>
          </a:p>
        </p:txBody>
      </p:sp>
      <p:grpSp>
        <p:nvGrpSpPr>
          <p:cNvPr id="9" name="Group 9"/>
          <p:cNvGrpSpPr/>
          <p:nvPr/>
        </p:nvGrpSpPr>
        <p:grpSpPr>
          <a:xfrm rot="0">
            <a:off x="5038" y="39939"/>
            <a:ext cx="1166621" cy="116662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800"/>
                </a:lnSpc>
              </a:pPr>
            </a:p>
          </p:txBody>
        </p:sp>
      </p:grpSp>
      <p:sp>
        <p:nvSpPr>
          <p:cNvPr id="12" name="Freeform 12"/>
          <p:cNvSpPr/>
          <p:nvPr/>
        </p:nvSpPr>
        <p:spPr>
          <a:xfrm>
            <a:off x="393972" y="325016"/>
            <a:ext cx="411708" cy="615517"/>
          </a:xfrm>
          <a:custGeom>
            <a:avLst/>
            <a:gdLst/>
            <a:ahLst/>
            <a:cxnLst/>
            <a:rect l="l" t="t" r="r" b="b"/>
            <a:pathLst>
              <a:path w="411708" h="615517">
                <a:moveTo>
                  <a:pt x="0" y="0"/>
                </a:moveTo>
                <a:lnTo>
                  <a:pt x="411708" y="0"/>
                </a:lnTo>
                <a:lnTo>
                  <a:pt x="411708" y="615517"/>
                </a:lnTo>
                <a:lnTo>
                  <a:pt x="0" y="61551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3" name="Freeform 13"/>
          <p:cNvSpPr/>
          <p:nvPr/>
        </p:nvSpPr>
        <p:spPr>
          <a:xfrm>
            <a:off x="9580501" y="3454584"/>
            <a:ext cx="8020327" cy="5353995"/>
          </a:xfrm>
          <a:custGeom>
            <a:avLst/>
            <a:gdLst/>
            <a:ahLst/>
            <a:cxnLst/>
            <a:rect l="l" t="t" r="r" b="b"/>
            <a:pathLst>
              <a:path w="8020327" h="5353995">
                <a:moveTo>
                  <a:pt x="0" y="0"/>
                </a:moveTo>
                <a:lnTo>
                  <a:pt x="8020327" y="0"/>
                </a:lnTo>
                <a:lnTo>
                  <a:pt x="8020327" y="5353995"/>
                </a:lnTo>
                <a:lnTo>
                  <a:pt x="0" y="5353995"/>
                </a:lnTo>
                <a:lnTo>
                  <a:pt x="0" y="0"/>
                </a:lnTo>
                <a:close/>
              </a:path>
            </a:pathLst>
          </a:custGeom>
          <a:blipFill>
            <a:blip r:embed="rId9"/>
            <a:stretch>
              <a:fillRect/>
            </a:stretch>
          </a:blipFill>
        </p:spPr>
      </p:sp>
      <p:sp>
        <p:nvSpPr>
          <p:cNvPr id="14" name="Freeform 14"/>
          <p:cNvSpPr/>
          <p:nvPr/>
        </p:nvSpPr>
        <p:spPr>
          <a:xfrm>
            <a:off x="393972" y="5486153"/>
            <a:ext cx="8444784" cy="2528919"/>
          </a:xfrm>
          <a:custGeom>
            <a:avLst/>
            <a:gdLst/>
            <a:ahLst/>
            <a:cxnLst/>
            <a:rect l="l" t="t" r="r" b="b"/>
            <a:pathLst>
              <a:path w="8444784" h="2528919">
                <a:moveTo>
                  <a:pt x="0" y="0"/>
                </a:moveTo>
                <a:lnTo>
                  <a:pt x="8444784" y="0"/>
                </a:lnTo>
                <a:lnTo>
                  <a:pt x="8444784" y="2528920"/>
                </a:lnTo>
                <a:lnTo>
                  <a:pt x="0" y="2528920"/>
                </a:lnTo>
                <a:lnTo>
                  <a:pt x="0" y="0"/>
                </a:lnTo>
                <a:close/>
              </a:path>
            </a:pathLst>
          </a:custGeom>
          <a:blipFill>
            <a:blip r:embed="rId10"/>
            <a:stretch>
              <a:fillRect/>
            </a:stretch>
          </a:blipFill>
        </p:spPr>
      </p:sp>
      <p:sp>
        <p:nvSpPr>
          <p:cNvPr id="15" name="TextBox 15"/>
          <p:cNvSpPr txBox="1"/>
          <p:nvPr/>
        </p:nvSpPr>
        <p:spPr>
          <a:xfrm>
            <a:off x="-1504579" y="243492"/>
            <a:ext cx="11826824" cy="873814"/>
          </a:xfrm>
          <a:prstGeom prst="rect">
            <a:avLst/>
          </a:prstGeom>
        </p:spPr>
        <p:txBody>
          <a:bodyPr lIns="0" tIns="0" rIns="0" bIns="0" rtlCol="0" anchor="t">
            <a:spAutoFit/>
          </a:bodyPr>
          <a:lstStyle/>
          <a:p>
            <a:pPr algn="ctr">
              <a:lnSpc>
                <a:spcPts val="6695"/>
              </a:lnSpc>
            </a:pPr>
            <a:r>
              <a:rPr lang="en-US" sz="650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rPr>
              <a:t>THIẾT KẾ TESTCASE</a:t>
            </a:r>
            <a:endParaRPr lang="en-US" sz="650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349898" y="6750613"/>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5712871" y="9063896"/>
            <a:ext cx="2763919" cy="882511"/>
          </a:xfrm>
          <a:custGeom>
            <a:avLst/>
            <a:gdLst/>
            <a:ahLst/>
            <a:cxnLst/>
            <a:rect l="l" t="t" r="r" b="b"/>
            <a:pathLst>
              <a:path w="2763919" h="882511">
                <a:moveTo>
                  <a:pt x="0" y="0"/>
                </a:moveTo>
                <a:lnTo>
                  <a:pt x="2763919" y="0"/>
                </a:lnTo>
                <a:lnTo>
                  <a:pt x="2763919" y="882511"/>
                </a:lnTo>
                <a:lnTo>
                  <a:pt x="0" y="8825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8838756" y="9275885"/>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TextBox 5"/>
          <p:cNvSpPr txBox="1"/>
          <p:nvPr/>
        </p:nvSpPr>
        <p:spPr>
          <a:xfrm>
            <a:off x="137964" y="1069682"/>
            <a:ext cx="7672102" cy="701729"/>
          </a:xfrm>
          <a:prstGeom prst="rect">
            <a:avLst/>
          </a:prstGeom>
        </p:spPr>
        <p:txBody>
          <a:bodyPr lIns="0" tIns="0" rIns="0" bIns="0" rtlCol="0" anchor="t">
            <a:spAutoFit/>
          </a:bodyPr>
          <a:lstStyle/>
          <a:p>
            <a:pPr algn="just">
              <a:lnSpc>
                <a:spcPts val="2800"/>
              </a:lnSpc>
            </a:pPr>
            <a:r>
              <a:rPr lang="en-US" sz="2000" b="1">
                <a:solidFill>
                  <a:srgbClr val="021828"/>
                </a:solidFill>
                <a:latin typeface="Aileron Bold" panose="00000800000000000000"/>
                <a:ea typeface="Aileron Bold" panose="00000800000000000000"/>
                <a:cs typeface="Aileron Bold" panose="00000800000000000000"/>
                <a:sym typeface="Aileron Bold" panose="00000800000000000000"/>
              </a:rPr>
              <a:t>b) Kiểm thử hộp trắng (White-box): được thực hiện cho hàm searchTrips():</a:t>
            </a:r>
            <a:endParaRPr lang="en-US" sz="2000" b="1">
              <a:solidFill>
                <a:srgbClr val="021828"/>
              </a:solidFill>
              <a:latin typeface="Aileron Bold" panose="00000800000000000000"/>
              <a:ea typeface="Aileron Bold" panose="00000800000000000000"/>
              <a:cs typeface="Aileron Bold" panose="00000800000000000000"/>
              <a:sym typeface="Aileron Bold" panose="00000800000000000000"/>
            </a:endParaRPr>
          </a:p>
        </p:txBody>
      </p:sp>
      <p:grpSp>
        <p:nvGrpSpPr>
          <p:cNvPr id="6" name="Group 6"/>
          <p:cNvGrpSpPr/>
          <p:nvPr/>
        </p:nvGrpSpPr>
        <p:grpSpPr>
          <a:xfrm rot="0">
            <a:off x="5038" y="39939"/>
            <a:ext cx="988761" cy="98876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800"/>
                </a:lnSpc>
              </a:pPr>
            </a:p>
          </p:txBody>
        </p:sp>
      </p:grpSp>
      <p:sp>
        <p:nvSpPr>
          <p:cNvPr id="9" name="Freeform 9"/>
          <p:cNvSpPr/>
          <p:nvPr/>
        </p:nvSpPr>
        <p:spPr>
          <a:xfrm>
            <a:off x="393972" y="325016"/>
            <a:ext cx="411708" cy="615517"/>
          </a:xfrm>
          <a:custGeom>
            <a:avLst/>
            <a:gdLst/>
            <a:ahLst/>
            <a:cxnLst/>
            <a:rect l="l" t="t" r="r" b="b"/>
            <a:pathLst>
              <a:path w="411708" h="615517">
                <a:moveTo>
                  <a:pt x="0" y="0"/>
                </a:moveTo>
                <a:lnTo>
                  <a:pt x="411708" y="0"/>
                </a:lnTo>
                <a:lnTo>
                  <a:pt x="411708" y="615517"/>
                </a:lnTo>
                <a:lnTo>
                  <a:pt x="0" y="61551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8060173" y="534320"/>
            <a:ext cx="9814998" cy="3790954"/>
          </a:xfrm>
          <a:custGeom>
            <a:avLst/>
            <a:gdLst/>
            <a:ahLst/>
            <a:cxnLst/>
            <a:rect l="l" t="t" r="r" b="b"/>
            <a:pathLst>
              <a:path w="9814998" h="3790954">
                <a:moveTo>
                  <a:pt x="0" y="0"/>
                </a:moveTo>
                <a:lnTo>
                  <a:pt x="9814997" y="0"/>
                </a:lnTo>
                <a:lnTo>
                  <a:pt x="9814997" y="3790953"/>
                </a:lnTo>
                <a:lnTo>
                  <a:pt x="0" y="3790953"/>
                </a:lnTo>
                <a:lnTo>
                  <a:pt x="0" y="0"/>
                </a:lnTo>
                <a:close/>
              </a:path>
            </a:pathLst>
          </a:custGeom>
          <a:blipFill>
            <a:blip r:embed="rId9"/>
            <a:stretch>
              <a:fillRect l="-924" r="-1117"/>
            </a:stretch>
          </a:blipFill>
        </p:spPr>
      </p:sp>
      <p:sp>
        <p:nvSpPr>
          <p:cNvPr id="11" name="Freeform 11"/>
          <p:cNvSpPr/>
          <p:nvPr/>
        </p:nvSpPr>
        <p:spPr>
          <a:xfrm>
            <a:off x="3947409" y="3400481"/>
            <a:ext cx="5538884" cy="6700263"/>
          </a:xfrm>
          <a:custGeom>
            <a:avLst/>
            <a:gdLst/>
            <a:ahLst/>
            <a:cxnLst/>
            <a:rect l="l" t="t" r="r" b="b"/>
            <a:pathLst>
              <a:path w="5538884" h="6700263">
                <a:moveTo>
                  <a:pt x="0" y="0"/>
                </a:moveTo>
                <a:lnTo>
                  <a:pt x="5538885" y="0"/>
                </a:lnTo>
                <a:lnTo>
                  <a:pt x="5538885" y="6700263"/>
                </a:lnTo>
                <a:lnTo>
                  <a:pt x="0" y="6700263"/>
                </a:lnTo>
                <a:lnTo>
                  <a:pt x="0" y="0"/>
                </a:lnTo>
                <a:close/>
              </a:path>
            </a:pathLst>
          </a:custGeom>
          <a:blipFill>
            <a:blip r:embed="rId10"/>
            <a:stretch>
              <a:fillRect/>
            </a:stretch>
          </a:blipFill>
        </p:spPr>
      </p:sp>
      <p:sp>
        <p:nvSpPr>
          <p:cNvPr id="12" name="Freeform 12"/>
          <p:cNvSpPr/>
          <p:nvPr/>
        </p:nvSpPr>
        <p:spPr>
          <a:xfrm>
            <a:off x="10026391" y="4414225"/>
            <a:ext cx="6602440" cy="5532181"/>
          </a:xfrm>
          <a:custGeom>
            <a:avLst/>
            <a:gdLst/>
            <a:ahLst/>
            <a:cxnLst/>
            <a:rect l="l" t="t" r="r" b="b"/>
            <a:pathLst>
              <a:path w="6602440" h="5532181">
                <a:moveTo>
                  <a:pt x="0" y="0"/>
                </a:moveTo>
                <a:lnTo>
                  <a:pt x="6602440" y="0"/>
                </a:lnTo>
                <a:lnTo>
                  <a:pt x="6602440" y="5532182"/>
                </a:lnTo>
                <a:lnTo>
                  <a:pt x="0" y="5532182"/>
                </a:lnTo>
                <a:lnTo>
                  <a:pt x="0" y="0"/>
                </a:lnTo>
                <a:close/>
              </a:path>
            </a:pathLst>
          </a:custGeom>
          <a:blipFill>
            <a:blip r:embed="rId11"/>
            <a:stretch>
              <a:fillRect/>
            </a:stretch>
          </a:blipFill>
        </p:spPr>
      </p:sp>
      <p:sp>
        <p:nvSpPr>
          <p:cNvPr id="13" name="TextBox 13"/>
          <p:cNvSpPr txBox="1"/>
          <p:nvPr/>
        </p:nvSpPr>
        <p:spPr>
          <a:xfrm>
            <a:off x="393972" y="1543128"/>
            <a:ext cx="3013340" cy="8800331"/>
          </a:xfrm>
          <a:prstGeom prst="rect">
            <a:avLst/>
          </a:prstGeom>
        </p:spPr>
        <p:txBody>
          <a:bodyPr lIns="0" tIns="0" rIns="0" bIns="0" rtlCol="0" anchor="t">
            <a:spAutoFit/>
          </a:bodyPr>
          <a:lstStyle/>
          <a:p>
            <a:pPr algn="just">
              <a:lnSpc>
                <a:spcPts val="1680"/>
              </a:lnSpc>
            </a:p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async function searchTrips(</a:t>
            </a: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if (!from || !to || !date) {</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alert(" Vui lòng chọn đủ điểm đi, điểm đến và ngày đi!");</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return;</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setLoading(true);</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try {</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const resGo = await fetch(`${API_URL}/trips/public?from=${from}&amp;to=${to}&amp;date=${date}`);</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const goData = await resGo.json();</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if (!goData.goTrips?.length) {</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alert(" Không tìm thấy chuyến xe phù hợp!");</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setResults([]);</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return;</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setResults(goData.goTrips);</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if (tripType === "Khứ hồi") {</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const resReturn = await fetch(`${API_URL}/trips/public?from=${to}&amp;to=${from}&amp;date=${date}`);</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const returnData = await resReturn.json();</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localStorage.setItem("returnTrips", JSON.stringify(returnData.goTrips || []));</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 else {</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localStorage.removeItem("returnTrips");</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 catch (e) {</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console.error(" Lỗi khi tìm chuyến:", e);</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alert("Không thể tải dữ liệu chuyến xe!");</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 finally {</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setLoading(false);</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  }</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r>
              <a:rPr lang="en-US" sz="1200" b="1">
                <a:solidFill>
                  <a:srgbClr val="021828"/>
                </a:solidFill>
                <a:latin typeface="Aileron Bold" panose="00000800000000000000"/>
                <a:ea typeface="Aileron Bold" panose="00000800000000000000"/>
                <a:cs typeface="Aileron Bold" panose="00000800000000000000"/>
                <a:sym typeface="Aileron Bold" panose="00000800000000000000"/>
              </a:rPr>
              <a:t>}</a:t>
            </a:r>
            <a:endParaRPr lang="en-US" sz="12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680"/>
              </a:lnSpc>
            </a:pPr>
          </a:p>
        </p:txBody>
      </p:sp>
      <p:sp>
        <p:nvSpPr>
          <p:cNvPr id="14" name="TextBox 14"/>
          <p:cNvSpPr txBox="1"/>
          <p:nvPr/>
        </p:nvSpPr>
        <p:spPr>
          <a:xfrm>
            <a:off x="-1504579" y="243492"/>
            <a:ext cx="11826824" cy="873814"/>
          </a:xfrm>
          <a:prstGeom prst="rect">
            <a:avLst/>
          </a:prstGeom>
        </p:spPr>
        <p:txBody>
          <a:bodyPr lIns="0" tIns="0" rIns="0" bIns="0" rtlCol="0" anchor="t">
            <a:spAutoFit/>
          </a:bodyPr>
          <a:lstStyle/>
          <a:p>
            <a:pPr algn="ctr">
              <a:lnSpc>
                <a:spcPts val="6695"/>
              </a:lnSpc>
            </a:pPr>
            <a:r>
              <a:rPr lang="en-US" sz="650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rPr>
              <a:t>THIẾT KẾ TESTCASE</a:t>
            </a:r>
            <a:endParaRPr lang="en-US" sz="650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endParaRPr>
          </a:p>
        </p:txBody>
      </p:sp>
      <p:sp>
        <p:nvSpPr>
          <p:cNvPr id="15" name="TextBox 15"/>
          <p:cNvSpPr txBox="1"/>
          <p:nvPr/>
        </p:nvSpPr>
        <p:spPr>
          <a:xfrm>
            <a:off x="3765029" y="1543128"/>
            <a:ext cx="5378971" cy="1969814"/>
          </a:xfrm>
          <a:prstGeom prst="rect">
            <a:avLst/>
          </a:prstGeom>
        </p:spPr>
        <p:txBody>
          <a:bodyPr lIns="0" tIns="0" rIns="0" bIns="0" rtlCol="0" anchor="t">
            <a:spAutoFit/>
          </a:bodyPr>
          <a:lstStyle/>
          <a:p>
            <a:pPr algn="just">
              <a:lnSpc>
                <a:spcPts val="1965"/>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Nút (Node)</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Đại diện cho các bước xử lý và điều kiện trong hàm</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5"/>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Cạnh (Edge)</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Biểu diễn luồng thực thi giữa các nút (True/False)</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5"/>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Sơ đồ CFG</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Mô tả toàn bộ luồng thực thi của chương trình</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Là cơ sở để phân tích coverage trong white-box testing</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5"/>
              </a:lnSpc>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349898" y="6750613"/>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5712871" y="9063896"/>
            <a:ext cx="2763919" cy="882511"/>
          </a:xfrm>
          <a:custGeom>
            <a:avLst/>
            <a:gdLst/>
            <a:ahLst/>
            <a:cxnLst/>
            <a:rect l="l" t="t" r="r" b="b"/>
            <a:pathLst>
              <a:path w="2763919" h="882511">
                <a:moveTo>
                  <a:pt x="0" y="0"/>
                </a:moveTo>
                <a:lnTo>
                  <a:pt x="2763919" y="0"/>
                </a:lnTo>
                <a:lnTo>
                  <a:pt x="2763919" y="882511"/>
                </a:lnTo>
                <a:lnTo>
                  <a:pt x="0" y="8825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8838756" y="9275885"/>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5" name="Group 5"/>
          <p:cNvGrpSpPr/>
          <p:nvPr/>
        </p:nvGrpSpPr>
        <p:grpSpPr>
          <a:xfrm rot="0">
            <a:off x="5038" y="39939"/>
            <a:ext cx="988761" cy="98876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800"/>
                </a:lnSpc>
              </a:pPr>
            </a:p>
          </p:txBody>
        </p:sp>
      </p:grpSp>
      <p:sp>
        <p:nvSpPr>
          <p:cNvPr id="8" name="Freeform 8"/>
          <p:cNvSpPr/>
          <p:nvPr/>
        </p:nvSpPr>
        <p:spPr>
          <a:xfrm>
            <a:off x="393972" y="325016"/>
            <a:ext cx="312745" cy="467564"/>
          </a:xfrm>
          <a:custGeom>
            <a:avLst/>
            <a:gdLst/>
            <a:ahLst/>
            <a:cxnLst/>
            <a:rect l="l" t="t" r="r" b="b"/>
            <a:pathLst>
              <a:path w="312745" h="467564">
                <a:moveTo>
                  <a:pt x="0" y="0"/>
                </a:moveTo>
                <a:lnTo>
                  <a:pt x="312745" y="0"/>
                </a:lnTo>
                <a:lnTo>
                  <a:pt x="312745" y="467564"/>
                </a:lnTo>
                <a:lnTo>
                  <a:pt x="0" y="46756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a:off x="137964" y="2564693"/>
            <a:ext cx="6338276" cy="3465371"/>
          </a:xfrm>
          <a:custGeom>
            <a:avLst/>
            <a:gdLst/>
            <a:ahLst/>
            <a:cxnLst/>
            <a:rect l="l" t="t" r="r" b="b"/>
            <a:pathLst>
              <a:path w="6338276" h="3465371">
                <a:moveTo>
                  <a:pt x="0" y="0"/>
                </a:moveTo>
                <a:lnTo>
                  <a:pt x="6338276" y="0"/>
                </a:lnTo>
                <a:lnTo>
                  <a:pt x="6338276" y="3465371"/>
                </a:lnTo>
                <a:lnTo>
                  <a:pt x="0" y="3465371"/>
                </a:lnTo>
                <a:lnTo>
                  <a:pt x="0" y="0"/>
                </a:lnTo>
                <a:close/>
              </a:path>
            </a:pathLst>
          </a:custGeom>
          <a:blipFill>
            <a:blip r:embed="rId9"/>
            <a:stretch>
              <a:fillRect/>
            </a:stretch>
          </a:blipFill>
        </p:spPr>
      </p:sp>
      <p:sp>
        <p:nvSpPr>
          <p:cNvPr id="10" name="Freeform 10"/>
          <p:cNvSpPr/>
          <p:nvPr/>
        </p:nvSpPr>
        <p:spPr>
          <a:xfrm>
            <a:off x="137964" y="7480716"/>
            <a:ext cx="6338276" cy="2465691"/>
          </a:xfrm>
          <a:custGeom>
            <a:avLst/>
            <a:gdLst/>
            <a:ahLst/>
            <a:cxnLst/>
            <a:rect l="l" t="t" r="r" b="b"/>
            <a:pathLst>
              <a:path w="6338276" h="2465691">
                <a:moveTo>
                  <a:pt x="0" y="0"/>
                </a:moveTo>
                <a:lnTo>
                  <a:pt x="6338276" y="0"/>
                </a:lnTo>
                <a:lnTo>
                  <a:pt x="6338276" y="2465691"/>
                </a:lnTo>
                <a:lnTo>
                  <a:pt x="0" y="2465691"/>
                </a:lnTo>
                <a:lnTo>
                  <a:pt x="0" y="0"/>
                </a:lnTo>
                <a:close/>
              </a:path>
            </a:pathLst>
          </a:custGeom>
          <a:blipFill>
            <a:blip r:embed="rId10"/>
            <a:stretch>
              <a:fillRect/>
            </a:stretch>
          </a:blipFill>
        </p:spPr>
      </p:sp>
      <p:sp>
        <p:nvSpPr>
          <p:cNvPr id="11" name="Freeform 11"/>
          <p:cNvSpPr/>
          <p:nvPr/>
        </p:nvSpPr>
        <p:spPr>
          <a:xfrm>
            <a:off x="11821327" y="1830189"/>
            <a:ext cx="5437973" cy="2305500"/>
          </a:xfrm>
          <a:custGeom>
            <a:avLst/>
            <a:gdLst/>
            <a:ahLst/>
            <a:cxnLst/>
            <a:rect l="l" t="t" r="r" b="b"/>
            <a:pathLst>
              <a:path w="5437973" h="2305500">
                <a:moveTo>
                  <a:pt x="0" y="0"/>
                </a:moveTo>
                <a:lnTo>
                  <a:pt x="5437973" y="0"/>
                </a:lnTo>
                <a:lnTo>
                  <a:pt x="5437973" y="2305500"/>
                </a:lnTo>
                <a:lnTo>
                  <a:pt x="0" y="2305500"/>
                </a:lnTo>
                <a:lnTo>
                  <a:pt x="0" y="0"/>
                </a:lnTo>
                <a:close/>
              </a:path>
            </a:pathLst>
          </a:custGeom>
          <a:blipFill>
            <a:blip r:embed="rId11"/>
            <a:stretch>
              <a:fillRect/>
            </a:stretch>
          </a:blipFill>
        </p:spPr>
      </p:sp>
      <p:sp>
        <p:nvSpPr>
          <p:cNvPr id="12" name="Freeform 12"/>
          <p:cNvSpPr/>
          <p:nvPr/>
        </p:nvSpPr>
        <p:spPr>
          <a:xfrm>
            <a:off x="10322245" y="4779170"/>
            <a:ext cx="7157946" cy="5331773"/>
          </a:xfrm>
          <a:custGeom>
            <a:avLst/>
            <a:gdLst/>
            <a:ahLst/>
            <a:cxnLst/>
            <a:rect l="l" t="t" r="r" b="b"/>
            <a:pathLst>
              <a:path w="7157946" h="5331773">
                <a:moveTo>
                  <a:pt x="0" y="0"/>
                </a:moveTo>
                <a:lnTo>
                  <a:pt x="7157947" y="0"/>
                </a:lnTo>
                <a:lnTo>
                  <a:pt x="7157947" y="5331773"/>
                </a:lnTo>
                <a:lnTo>
                  <a:pt x="0" y="5331773"/>
                </a:lnTo>
                <a:lnTo>
                  <a:pt x="0" y="0"/>
                </a:lnTo>
                <a:close/>
              </a:path>
            </a:pathLst>
          </a:custGeom>
          <a:blipFill>
            <a:blip r:embed="rId12"/>
            <a:stretch>
              <a:fillRect/>
            </a:stretch>
          </a:blipFill>
        </p:spPr>
      </p:sp>
      <p:sp>
        <p:nvSpPr>
          <p:cNvPr id="13" name="TextBox 13"/>
          <p:cNvSpPr txBox="1"/>
          <p:nvPr/>
        </p:nvSpPr>
        <p:spPr>
          <a:xfrm>
            <a:off x="137964" y="1069682"/>
            <a:ext cx="7672102" cy="349277"/>
          </a:xfrm>
          <a:prstGeom prst="rect">
            <a:avLst/>
          </a:prstGeom>
        </p:spPr>
        <p:txBody>
          <a:bodyPr lIns="0" tIns="0" rIns="0" bIns="0" rtlCol="0" anchor="t">
            <a:spAutoFit/>
          </a:bodyPr>
          <a:lstStyle/>
          <a:p>
            <a:pPr algn="just">
              <a:lnSpc>
                <a:spcPts val="2800"/>
              </a:lnSpc>
            </a:pPr>
            <a:r>
              <a:rPr lang="en-US" sz="2000" b="1">
                <a:solidFill>
                  <a:srgbClr val="021828"/>
                </a:solidFill>
                <a:latin typeface="Aileron Bold" panose="00000800000000000000"/>
                <a:ea typeface="Aileron Bold" panose="00000800000000000000"/>
                <a:cs typeface="Aileron Bold" panose="00000800000000000000"/>
                <a:sym typeface="Aileron Bold" panose="00000800000000000000"/>
              </a:rPr>
              <a:t>Coverage</a:t>
            </a:r>
            <a:endParaRPr lang="en-US" sz="2000" b="1">
              <a:solidFill>
                <a:srgbClr val="021828"/>
              </a:solidFill>
              <a:latin typeface="Aileron Bold" panose="00000800000000000000"/>
              <a:ea typeface="Aileron Bold" panose="00000800000000000000"/>
              <a:cs typeface="Aileron Bold" panose="00000800000000000000"/>
              <a:sym typeface="Aileron Bold" panose="00000800000000000000"/>
            </a:endParaRPr>
          </a:p>
        </p:txBody>
      </p:sp>
      <p:sp>
        <p:nvSpPr>
          <p:cNvPr id="14" name="TextBox 14"/>
          <p:cNvSpPr txBox="1"/>
          <p:nvPr/>
        </p:nvSpPr>
        <p:spPr>
          <a:xfrm>
            <a:off x="-240881" y="189215"/>
            <a:ext cx="8429792" cy="824892"/>
          </a:xfrm>
          <a:prstGeom prst="rect">
            <a:avLst/>
          </a:prstGeom>
        </p:spPr>
        <p:txBody>
          <a:bodyPr lIns="0" tIns="0" rIns="0" bIns="0" rtlCol="0" anchor="t">
            <a:spAutoFit/>
          </a:bodyPr>
          <a:lstStyle/>
          <a:p>
            <a:pPr algn="ctr">
              <a:lnSpc>
                <a:spcPts val="6180"/>
              </a:lnSpc>
            </a:pPr>
            <a:r>
              <a:rPr lang="en-US" sz="600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rPr>
              <a:t>THIẾT KẾ TESTCASE</a:t>
            </a:r>
            <a:endParaRPr lang="en-US" sz="600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endParaRPr>
          </a:p>
        </p:txBody>
      </p:sp>
      <p:sp>
        <p:nvSpPr>
          <p:cNvPr id="15" name="TextBox 15"/>
          <p:cNvSpPr txBox="1"/>
          <p:nvPr/>
        </p:nvSpPr>
        <p:spPr>
          <a:xfrm>
            <a:off x="137964" y="1476109"/>
            <a:ext cx="7672102" cy="1228493"/>
          </a:xfrm>
          <a:prstGeom prst="rect">
            <a:avLst/>
          </a:prstGeom>
        </p:spPr>
        <p:txBody>
          <a:bodyPr lIns="0" tIns="0" rIns="0" bIns="0" rtlCol="0" anchor="t">
            <a:spAutoFit/>
          </a:bodyPr>
          <a:lstStyle/>
          <a:p>
            <a:pPr algn="just">
              <a:lnSpc>
                <a:spcPts val="1965"/>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Statemen</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 Coverage</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5"/>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Statement Coverage = (Số lệnh đã thực thi / Tổng số lệnh) × 100%</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Đảm bảo mỗi dòng code chạy ít nhất 1 lần</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Kết quả: 100% (12/12 statements)</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5"/>
              </a:lnSpc>
            </a:pPr>
          </a:p>
        </p:txBody>
      </p:sp>
      <p:sp>
        <p:nvSpPr>
          <p:cNvPr id="16" name="TextBox 16"/>
          <p:cNvSpPr txBox="1"/>
          <p:nvPr/>
        </p:nvSpPr>
        <p:spPr>
          <a:xfrm>
            <a:off x="137964" y="6106264"/>
            <a:ext cx="7672102" cy="1475600"/>
          </a:xfrm>
          <a:prstGeom prst="rect">
            <a:avLst/>
          </a:prstGeom>
        </p:spPr>
        <p:txBody>
          <a:bodyPr lIns="0" tIns="0" rIns="0" bIns="0" rtlCol="0" anchor="t">
            <a:spAutoFit/>
          </a:bodyPr>
          <a:lstStyle/>
          <a:p>
            <a:pPr algn="just">
              <a:lnSpc>
                <a:spcPts val="1965"/>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Bra</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nch Coverage</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5"/>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Branch Coverage = (Số nhánh đã đi qua / Tổng số nhánh) × 100%</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Mỗ</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i điều kiện phải chạy cả True/False</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Có 4 điều kiện → 8 nhánh</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Kết</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quả: 100% (8/8 branches)</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5"/>
              </a:lnSpc>
            </a:pPr>
          </a:p>
        </p:txBody>
      </p:sp>
      <p:sp>
        <p:nvSpPr>
          <p:cNvPr id="17" name="TextBox 17"/>
          <p:cNvSpPr txBox="1"/>
          <p:nvPr/>
        </p:nvSpPr>
        <p:spPr>
          <a:xfrm>
            <a:off x="6879245" y="1088732"/>
            <a:ext cx="7672102" cy="2711135"/>
          </a:xfrm>
          <a:prstGeom prst="rect">
            <a:avLst/>
          </a:prstGeom>
        </p:spPr>
        <p:txBody>
          <a:bodyPr lIns="0" tIns="0" rIns="0" bIns="0" rtlCol="0" anchor="t">
            <a:spAutoFit/>
          </a:bodyPr>
          <a:lstStyle/>
          <a:p>
            <a:pPr algn="just">
              <a:lnSpc>
                <a:spcPts val="1965"/>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Path Coverage</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5"/>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Path Coverage = (Số đường đi đã thực thi / Tổng số đường đi độc lập được chọn) × 100%</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Mục</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tiêu: mỗi đường đi độc lập từ Entry đến Exit cần được kiểm thử ít nhất một lần</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Cyclomatic Complexity: CC= số decision + 1 = 4 + 1 = 5</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Các decision node trong hàm:</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1. if (!from || !to || !date)</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2. if (!goData.goTrips?.length)</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3. if (tripType === "Khứ hồi")</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4. catch(e)</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Kết quả: 100% (5/5 paths)</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5"/>
              </a:lnSpc>
            </a:pPr>
          </a:p>
        </p:txBody>
      </p:sp>
      <p:sp>
        <p:nvSpPr>
          <p:cNvPr id="18" name="TextBox 18"/>
          <p:cNvSpPr txBox="1"/>
          <p:nvPr/>
        </p:nvSpPr>
        <p:spPr>
          <a:xfrm>
            <a:off x="7172979" y="4780799"/>
            <a:ext cx="2902278" cy="1969814"/>
          </a:xfrm>
          <a:prstGeom prst="rect">
            <a:avLst/>
          </a:prstGeom>
        </p:spPr>
        <p:txBody>
          <a:bodyPr lIns="0" tIns="0" rIns="0" bIns="0" rtlCol="0" anchor="t">
            <a:spAutoFit/>
          </a:bodyPr>
          <a:lstStyle/>
          <a:p>
            <a:pPr algn="just">
              <a:lnSpc>
                <a:spcPts val="1965"/>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Bộ test white-box: 5 test case (TC_WB_01 → TC_WB_05)</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5"/>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Kết quả bao phủ:</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Statemen</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 Coverage = 12/12 = 100%</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Branch Coverage = 8/8 = 100%</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895" lvl="1" indent="-151130" algn="just">
              <a:lnSpc>
                <a:spcPts val="1965"/>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Path Coverage = 5/5 = 100%</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5"/>
              </a:lnSpc>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349898" y="6750613"/>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5712871" y="9063896"/>
            <a:ext cx="2763919" cy="882511"/>
          </a:xfrm>
          <a:custGeom>
            <a:avLst/>
            <a:gdLst/>
            <a:ahLst/>
            <a:cxnLst/>
            <a:rect l="l" t="t" r="r" b="b"/>
            <a:pathLst>
              <a:path w="2763919" h="882511">
                <a:moveTo>
                  <a:pt x="0" y="0"/>
                </a:moveTo>
                <a:lnTo>
                  <a:pt x="2763919" y="0"/>
                </a:lnTo>
                <a:lnTo>
                  <a:pt x="2763919" y="882511"/>
                </a:lnTo>
                <a:lnTo>
                  <a:pt x="0" y="8825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8838756" y="9275885"/>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5" name="Group 5"/>
          <p:cNvGrpSpPr/>
          <p:nvPr/>
        </p:nvGrpSpPr>
        <p:grpSpPr>
          <a:xfrm rot="0">
            <a:off x="5038" y="39939"/>
            <a:ext cx="988761" cy="98876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800"/>
                </a:lnSpc>
              </a:pPr>
            </a:p>
          </p:txBody>
        </p:sp>
      </p:grpSp>
      <p:sp>
        <p:nvSpPr>
          <p:cNvPr id="8" name="Freeform 8"/>
          <p:cNvSpPr/>
          <p:nvPr/>
        </p:nvSpPr>
        <p:spPr>
          <a:xfrm>
            <a:off x="393972" y="325016"/>
            <a:ext cx="312745" cy="467564"/>
          </a:xfrm>
          <a:custGeom>
            <a:avLst/>
            <a:gdLst/>
            <a:ahLst/>
            <a:cxnLst/>
            <a:rect l="l" t="t" r="r" b="b"/>
            <a:pathLst>
              <a:path w="312745" h="467564">
                <a:moveTo>
                  <a:pt x="0" y="0"/>
                </a:moveTo>
                <a:lnTo>
                  <a:pt x="312745" y="0"/>
                </a:lnTo>
                <a:lnTo>
                  <a:pt x="312745" y="467564"/>
                </a:lnTo>
                <a:lnTo>
                  <a:pt x="0" y="46756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a:off x="706717" y="4429125"/>
            <a:ext cx="4490835" cy="5697150"/>
          </a:xfrm>
          <a:custGeom>
            <a:avLst/>
            <a:gdLst/>
            <a:ahLst/>
            <a:cxnLst/>
            <a:rect l="l" t="t" r="r" b="b"/>
            <a:pathLst>
              <a:path w="4490835" h="5697150">
                <a:moveTo>
                  <a:pt x="0" y="0"/>
                </a:moveTo>
                <a:lnTo>
                  <a:pt x="4490835" y="0"/>
                </a:lnTo>
                <a:lnTo>
                  <a:pt x="4490835" y="5697150"/>
                </a:lnTo>
                <a:lnTo>
                  <a:pt x="0" y="5697150"/>
                </a:lnTo>
                <a:lnTo>
                  <a:pt x="0" y="0"/>
                </a:lnTo>
                <a:close/>
              </a:path>
            </a:pathLst>
          </a:custGeom>
          <a:blipFill>
            <a:blip r:embed="rId9"/>
            <a:stretch>
              <a:fillRect/>
            </a:stretch>
          </a:blipFill>
        </p:spPr>
      </p:sp>
      <p:sp>
        <p:nvSpPr>
          <p:cNvPr id="10" name="Freeform 10"/>
          <p:cNvSpPr/>
          <p:nvPr/>
        </p:nvSpPr>
        <p:spPr>
          <a:xfrm>
            <a:off x="7846752" y="1915736"/>
            <a:ext cx="9626725" cy="3394284"/>
          </a:xfrm>
          <a:custGeom>
            <a:avLst/>
            <a:gdLst/>
            <a:ahLst/>
            <a:cxnLst/>
            <a:rect l="l" t="t" r="r" b="b"/>
            <a:pathLst>
              <a:path w="9626725" h="3394284">
                <a:moveTo>
                  <a:pt x="0" y="0"/>
                </a:moveTo>
                <a:lnTo>
                  <a:pt x="9626725" y="0"/>
                </a:lnTo>
                <a:lnTo>
                  <a:pt x="9626725" y="3394284"/>
                </a:lnTo>
                <a:lnTo>
                  <a:pt x="0" y="3394284"/>
                </a:lnTo>
                <a:lnTo>
                  <a:pt x="0" y="0"/>
                </a:lnTo>
                <a:close/>
              </a:path>
            </a:pathLst>
          </a:custGeom>
          <a:blipFill>
            <a:blip r:embed="rId10"/>
            <a:stretch>
              <a:fillRect/>
            </a:stretch>
          </a:blipFill>
        </p:spPr>
      </p:sp>
      <p:sp>
        <p:nvSpPr>
          <p:cNvPr id="11" name="TextBox 11"/>
          <p:cNvSpPr txBox="1"/>
          <p:nvPr/>
        </p:nvSpPr>
        <p:spPr>
          <a:xfrm>
            <a:off x="-240881" y="189215"/>
            <a:ext cx="8429792" cy="824892"/>
          </a:xfrm>
          <a:prstGeom prst="rect">
            <a:avLst/>
          </a:prstGeom>
        </p:spPr>
        <p:txBody>
          <a:bodyPr lIns="0" tIns="0" rIns="0" bIns="0" rtlCol="0" anchor="t">
            <a:spAutoFit/>
          </a:bodyPr>
          <a:lstStyle/>
          <a:p>
            <a:pPr algn="ctr">
              <a:lnSpc>
                <a:spcPts val="6180"/>
              </a:lnSpc>
            </a:pPr>
            <a:r>
              <a:rPr lang="en-US" sz="600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rPr>
              <a:t>THIẾT KẾ TESTCASE</a:t>
            </a:r>
            <a:endParaRPr lang="en-US" sz="600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endParaRPr>
          </a:p>
        </p:txBody>
      </p:sp>
      <p:sp>
        <p:nvSpPr>
          <p:cNvPr id="12" name="TextBox 12"/>
          <p:cNvSpPr txBox="1"/>
          <p:nvPr/>
        </p:nvSpPr>
        <p:spPr>
          <a:xfrm>
            <a:off x="211540" y="1146197"/>
            <a:ext cx="7977371" cy="3706953"/>
          </a:xfrm>
          <a:prstGeom prst="rect">
            <a:avLst/>
          </a:prstGeom>
        </p:spPr>
        <p:txBody>
          <a:bodyPr lIns="0" tIns="0" rIns="0" bIns="0" rtlCol="0" anchor="t">
            <a:spAutoFit/>
          </a:bodyPr>
          <a:lstStyle/>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UX Testing: Áp dụng 10 nguyên tắc Nielsen cho Trang chủ</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Nielsen’s 10 Usability Heuristics</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AutoNum type="arabicPeriod"/>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Visibility of system status: Hệ thống luôn phản hồi trạng thái cho người dùng</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AutoNum type="arabicPeriod"/>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Match between system and the real world: Ngôn ngữ, nội dung gần gũi thực tế</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AutoNum type="arabicPeriod"/>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User control and freedom: Cho phép quay lại, hủy thao tác</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AutoNum type="arabicPeriod"/>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Consistency and standards: Giao diện và hành vi thống nhất</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AutoNum type="arabicPeriod"/>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Error prevention: Hạn chế lỗi trước khi xảy ra</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AutoNum type="arabicPeriod"/>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Recognition rather than recall: Hiển thị lựa chọn, không bắt nhớ</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AutoNum type="arabicPeriod"/>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Flexibility and efficiency of use: Hỗ trợ thao tác nhanh, linh hoạt</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AutoNum type="arabicPeriod"/>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Aesthetic and minimalist design: Thiết kế đơn giản, dễ nhìn</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AutoNum type="arabicPeriod"/>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Help users recognize, diagnose, and recover from errors: Thông báo lỗi rõ ràng, dễ hiểu</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AutoNum type="arabicPeriod"/>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Help and documentation: Có hướng dẫn khi cần</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Dựa trên 10 nguyên tắc, xây dựng 13 test case UX để kiểm tra hệ thống</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p>
          <a:p>
            <a:pPr algn="just">
              <a:lnSpc>
                <a:spcPts val="1960"/>
              </a:lnSpc>
            </a:pPr>
          </a:p>
        </p:txBody>
      </p:sp>
      <p:sp>
        <p:nvSpPr>
          <p:cNvPr id="13" name="TextBox 13"/>
          <p:cNvSpPr txBox="1"/>
          <p:nvPr/>
        </p:nvSpPr>
        <p:spPr>
          <a:xfrm>
            <a:off x="7846752" y="1127147"/>
            <a:ext cx="7977371" cy="365814"/>
          </a:xfrm>
          <a:prstGeom prst="rect">
            <a:avLst/>
          </a:prstGeom>
        </p:spPr>
        <p:txBody>
          <a:bodyPr lIns="0" tIns="0" rIns="0" bIns="0" rtlCol="0" anchor="t">
            <a:spAutoFit/>
          </a:bodyPr>
          <a:lstStyle/>
          <a:p>
            <a:pPr algn="just">
              <a:lnSpc>
                <a:spcPts val="2940"/>
              </a:lnSpc>
            </a:pPr>
            <a:r>
              <a:rPr lang="en-US" sz="2100" b="1">
                <a:solidFill>
                  <a:srgbClr val="021828"/>
                </a:solidFill>
                <a:latin typeface="Aileron Bold" panose="00000800000000000000"/>
                <a:ea typeface="Aileron Bold" panose="00000800000000000000"/>
                <a:cs typeface="Aileron Bold" panose="00000800000000000000"/>
                <a:sym typeface="Aileron Bold" panose="00000800000000000000"/>
              </a:rPr>
              <a:t>Bảng tổng hợp Testcase</a:t>
            </a:r>
            <a:endParaRPr lang="en-US" sz="2100" b="1">
              <a:solidFill>
                <a:srgbClr val="021828"/>
              </a:solidFill>
              <a:latin typeface="Aileron Bold" panose="00000800000000000000"/>
              <a:ea typeface="Aileron Bold" panose="00000800000000000000"/>
              <a:cs typeface="Aileron Bold" panose="00000800000000000000"/>
              <a:sym typeface="Aileron Bold" panose="0000080000000000000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349898" y="6750613"/>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5712871" y="9063896"/>
            <a:ext cx="2763919" cy="882511"/>
          </a:xfrm>
          <a:custGeom>
            <a:avLst/>
            <a:gdLst/>
            <a:ahLst/>
            <a:cxnLst/>
            <a:rect l="l" t="t" r="r" b="b"/>
            <a:pathLst>
              <a:path w="2763919" h="882511">
                <a:moveTo>
                  <a:pt x="0" y="0"/>
                </a:moveTo>
                <a:lnTo>
                  <a:pt x="2763919" y="0"/>
                </a:lnTo>
                <a:lnTo>
                  <a:pt x="2763919" y="882511"/>
                </a:lnTo>
                <a:lnTo>
                  <a:pt x="0" y="8825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8838756" y="9275885"/>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5" name="Group 5"/>
          <p:cNvGrpSpPr/>
          <p:nvPr/>
        </p:nvGrpSpPr>
        <p:grpSpPr>
          <a:xfrm rot="0">
            <a:off x="5038" y="39939"/>
            <a:ext cx="988761" cy="98876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800"/>
                </a:lnSpc>
              </a:pPr>
            </a:p>
          </p:txBody>
        </p:sp>
      </p:grpSp>
      <p:sp>
        <p:nvSpPr>
          <p:cNvPr id="8" name="Freeform 8"/>
          <p:cNvSpPr/>
          <p:nvPr/>
        </p:nvSpPr>
        <p:spPr>
          <a:xfrm>
            <a:off x="393972" y="325016"/>
            <a:ext cx="312745" cy="467564"/>
          </a:xfrm>
          <a:custGeom>
            <a:avLst/>
            <a:gdLst/>
            <a:ahLst/>
            <a:cxnLst/>
            <a:rect l="l" t="t" r="r" b="b"/>
            <a:pathLst>
              <a:path w="312745" h="467564">
                <a:moveTo>
                  <a:pt x="0" y="0"/>
                </a:moveTo>
                <a:lnTo>
                  <a:pt x="312745" y="0"/>
                </a:lnTo>
                <a:lnTo>
                  <a:pt x="312745" y="467564"/>
                </a:lnTo>
                <a:lnTo>
                  <a:pt x="0" y="46756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a:off x="8448139" y="745514"/>
            <a:ext cx="8461615" cy="2276159"/>
          </a:xfrm>
          <a:custGeom>
            <a:avLst/>
            <a:gdLst/>
            <a:ahLst/>
            <a:cxnLst/>
            <a:rect l="l" t="t" r="r" b="b"/>
            <a:pathLst>
              <a:path w="8461615" h="2276159">
                <a:moveTo>
                  <a:pt x="0" y="0"/>
                </a:moveTo>
                <a:lnTo>
                  <a:pt x="8461615" y="0"/>
                </a:lnTo>
                <a:lnTo>
                  <a:pt x="8461615" y="2276159"/>
                </a:lnTo>
                <a:lnTo>
                  <a:pt x="0" y="2276159"/>
                </a:lnTo>
                <a:lnTo>
                  <a:pt x="0" y="0"/>
                </a:lnTo>
                <a:close/>
              </a:path>
            </a:pathLst>
          </a:custGeom>
          <a:blipFill>
            <a:blip r:embed="rId9"/>
            <a:stretch>
              <a:fillRect t="-10130"/>
            </a:stretch>
          </a:blipFill>
        </p:spPr>
      </p:sp>
      <p:sp>
        <p:nvSpPr>
          <p:cNvPr id="10" name="Freeform 10"/>
          <p:cNvSpPr/>
          <p:nvPr/>
        </p:nvSpPr>
        <p:spPr>
          <a:xfrm>
            <a:off x="6334454" y="7167526"/>
            <a:ext cx="5619093" cy="1467152"/>
          </a:xfrm>
          <a:custGeom>
            <a:avLst/>
            <a:gdLst/>
            <a:ahLst/>
            <a:cxnLst/>
            <a:rect l="l" t="t" r="r" b="b"/>
            <a:pathLst>
              <a:path w="5619093" h="1467152">
                <a:moveTo>
                  <a:pt x="0" y="0"/>
                </a:moveTo>
                <a:lnTo>
                  <a:pt x="5619092" y="0"/>
                </a:lnTo>
                <a:lnTo>
                  <a:pt x="5619092" y="1467152"/>
                </a:lnTo>
                <a:lnTo>
                  <a:pt x="0" y="1467152"/>
                </a:lnTo>
                <a:lnTo>
                  <a:pt x="0" y="0"/>
                </a:lnTo>
                <a:close/>
              </a:path>
            </a:pathLst>
          </a:custGeom>
          <a:blipFill>
            <a:blip r:embed="rId10"/>
            <a:stretch>
              <a:fillRect/>
            </a:stretch>
          </a:blipFill>
        </p:spPr>
      </p:sp>
      <p:sp>
        <p:nvSpPr>
          <p:cNvPr id="11" name="Freeform 11"/>
          <p:cNvSpPr/>
          <p:nvPr/>
        </p:nvSpPr>
        <p:spPr>
          <a:xfrm>
            <a:off x="12315496" y="3886449"/>
            <a:ext cx="5022550" cy="6238949"/>
          </a:xfrm>
          <a:custGeom>
            <a:avLst/>
            <a:gdLst/>
            <a:ahLst/>
            <a:cxnLst/>
            <a:rect l="l" t="t" r="r" b="b"/>
            <a:pathLst>
              <a:path w="5022550" h="6238949">
                <a:moveTo>
                  <a:pt x="0" y="0"/>
                </a:moveTo>
                <a:lnTo>
                  <a:pt x="5022550" y="0"/>
                </a:lnTo>
                <a:lnTo>
                  <a:pt x="5022550" y="6238948"/>
                </a:lnTo>
                <a:lnTo>
                  <a:pt x="0" y="6238948"/>
                </a:lnTo>
                <a:lnTo>
                  <a:pt x="0" y="0"/>
                </a:lnTo>
                <a:close/>
              </a:path>
            </a:pathLst>
          </a:custGeom>
          <a:blipFill>
            <a:blip r:embed="rId11"/>
            <a:stretch>
              <a:fillRect/>
            </a:stretch>
          </a:blipFill>
        </p:spPr>
      </p:sp>
      <p:sp>
        <p:nvSpPr>
          <p:cNvPr id="12" name="TextBox 12"/>
          <p:cNvSpPr txBox="1"/>
          <p:nvPr/>
        </p:nvSpPr>
        <p:spPr>
          <a:xfrm>
            <a:off x="-240881" y="198740"/>
            <a:ext cx="8429792" cy="803602"/>
          </a:xfrm>
          <a:prstGeom prst="rect">
            <a:avLst/>
          </a:prstGeom>
        </p:spPr>
        <p:txBody>
          <a:bodyPr lIns="0" tIns="0" rIns="0" bIns="0" rtlCol="0" anchor="t">
            <a:spAutoFit/>
          </a:bodyPr>
          <a:lstStyle/>
          <a:p>
            <a:pPr algn="ctr">
              <a:lnSpc>
                <a:spcPts val="6075"/>
              </a:lnSpc>
            </a:pPr>
            <a:r>
              <a:rPr lang="en-US" sz="590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rPr>
              <a:t>THỰC THI KIỂM THỬ</a:t>
            </a:r>
            <a:endParaRPr lang="en-US" sz="590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endParaRPr>
          </a:p>
        </p:txBody>
      </p:sp>
      <p:sp>
        <p:nvSpPr>
          <p:cNvPr id="13" name="TextBox 13"/>
          <p:cNvSpPr txBox="1"/>
          <p:nvPr/>
        </p:nvSpPr>
        <p:spPr>
          <a:xfrm>
            <a:off x="211540" y="1406069"/>
            <a:ext cx="7977371" cy="3459357"/>
          </a:xfrm>
          <a:prstGeom prst="rect">
            <a:avLst/>
          </a:prstGeom>
        </p:spPr>
        <p:txBody>
          <a:bodyPr lIns="0" tIns="0" rIns="0" bIns="0" rtlCol="0" anchor="t">
            <a:spAutoFit/>
          </a:bodyPr>
          <a:lstStyle/>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Số lượng test case chức năng</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Chức năng đăng ký: 36 test case</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Chức năng đăng nhập: 5 t</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est case</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Tổng số test case chức năng: 41 test case </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Kết quả thực thi</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Trong 41 test case chức năng đã thực hiện:</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E00A1D"/>
                </a:solidFill>
                <a:latin typeface="Aileron Bold" panose="00000800000000000000"/>
                <a:ea typeface="Aileron Bold" panose="00000800000000000000"/>
                <a:cs typeface="Aileron Bold" panose="00000800000000000000"/>
                <a:sym typeface="Aileron Bold" panose="00000800000000000000"/>
              </a:rPr>
              <a:t>PASS: 38</a:t>
            </a:r>
            <a:r>
              <a:rPr lang="en-US" sz="1400" b="1">
                <a:solidFill>
                  <a:srgbClr val="E00A1D"/>
                </a:solidFill>
                <a:latin typeface="Aileron Bold" panose="00000800000000000000"/>
                <a:ea typeface="Aileron Bold" panose="00000800000000000000"/>
                <a:cs typeface="Aileron Bold" panose="00000800000000000000"/>
                <a:sym typeface="Aileron Bold" panose="00000800000000000000"/>
              </a:rPr>
              <a:t> test case</a:t>
            </a:r>
            <a:endParaRPr lang="en-US" sz="1400" b="1">
              <a:solidFill>
                <a:srgbClr val="E00A1D"/>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E00A1D"/>
                </a:solidFill>
                <a:latin typeface="Aileron Bold" panose="00000800000000000000"/>
                <a:ea typeface="Aileron Bold" panose="00000800000000000000"/>
                <a:cs typeface="Aileron Bold" panose="00000800000000000000"/>
                <a:sym typeface="Aileron Bold" panose="00000800000000000000"/>
              </a:rPr>
              <a:t>FAIL: 3 test case </a:t>
            </a:r>
            <a:endParaRPr lang="en-US" sz="1400" b="1">
              <a:solidFill>
                <a:srgbClr val="E00A1D"/>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Ba test case bị fail đều thuộc chức năng đăng ký, gồm:</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TC_RG_03:</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Username nhỏ hơn 5 ký tự nhưng hệ thống không hiển thị thông báo lỗi như mong đợi</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TC_RG_05: Username lớn hơn 30 ký tự nhưng hệ thống không kiểm tra đúng giới hạn</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TC_RG_19:</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Password vượt quá 10 ký tự nhưng hệ thống không hiển</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thị cảnh báo phù hợp</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p>
        </p:txBody>
      </p:sp>
      <p:sp>
        <p:nvSpPr>
          <p:cNvPr id="14" name="TextBox 14"/>
          <p:cNvSpPr txBox="1"/>
          <p:nvPr/>
        </p:nvSpPr>
        <p:spPr>
          <a:xfrm>
            <a:off x="211540" y="1111429"/>
            <a:ext cx="2776376" cy="323215"/>
          </a:xfrm>
          <a:prstGeom prst="rect">
            <a:avLst/>
          </a:prstGeom>
        </p:spPr>
        <p:txBody>
          <a:bodyPr lIns="0" tIns="0" rIns="0" bIns="0" rtlCol="0" anchor="t">
            <a:spAutoFit/>
          </a:bodyPr>
          <a:lstStyle/>
          <a:p>
            <a:pPr algn="just">
              <a:lnSpc>
                <a:spcPts val="2660"/>
              </a:lnSpc>
            </a:pPr>
            <a:r>
              <a:rPr lang="en-US" sz="1900" b="1">
                <a:solidFill>
                  <a:srgbClr val="021828"/>
                </a:solidFill>
                <a:latin typeface="Aileron Bold" panose="00000800000000000000"/>
                <a:ea typeface="Aileron Bold" panose="00000800000000000000"/>
                <a:cs typeface="Aileron Bold" panose="00000800000000000000"/>
                <a:sym typeface="Aileron Bold" panose="00000800000000000000"/>
              </a:rPr>
              <a:t>Kiểm thử chức năng</a:t>
            </a:r>
            <a:endParaRPr lang="en-US" sz="1900" b="1">
              <a:solidFill>
                <a:srgbClr val="021828"/>
              </a:solidFill>
              <a:latin typeface="Aileron Bold" panose="00000800000000000000"/>
              <a:ea typeface="Aileron Bold" panose="00000800000000000000"/>
              <a:cs typeface="Aileron Bold" panose="00000800000000000000"/>
              <a:sym typeface="Aileron Bold" panose="00000800000000000000"/>
            </a:endParaRPr>
          </a:p>
        </p:txBody>
      </p:sp>
      <p:sp>
        <p:nvSpPr>
          <p:cNvPr id="15" name="TextBox 15"/>
          <p:cNvSpPr txBox="1"/>
          <p:nvPr/>
        </p:nvSpPr>
        <p:spPr>
          <a:xfrm>
            <a:off x="211540" y="4979409"/>
            <a:ext cx="7977371" cy="3211761"/>
          </a:xfrm>
          <a:prstGeom prst="rect">
            <a:avLst/>
          </a:prstGeom>
        </p:spPr>
        <p:txBody>
          <a:bodyPr lIns="0" tIns="0" rIns="0" bIns="0" rtlCol="0" anchor="t">
            <a:spAutoFit/>
          </a:bodyPr>
          <a:lstStyle/>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Thực hiện trên luồng tìm chuyến xe, kiểm tra sự phối hợp giữa giao diện, hàm s</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earchTrips(), API và dữ liệu trả về, nhằm đảm bảo hệ thống hoạt động đúng trong từng tình huống. </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Số lượng</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test case tích hợp</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Tổng</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số test case tích hợp: 5 test case</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04520" lvl="2" indent="-201295"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TC_WB_01: Thiếu dữ liệu đầu vào</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04520" lvl="2" indent="-201295"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TC_WB_02:</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Không có chuyến phù hợp</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04520" lvl="2" indent="-201295"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TC_WB_03: Có chuyến một chiều</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04520" lvl="2" indent="-201295"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TC_WB_04: Có chuyến khứ hồi</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04520" lvl="2" indent="-201295"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TC_WB_05: Lỗi khi gọi API </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Kết quả thực thi</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E00A1D"/>
                </a:solidFill>
                <a:latin typeface="Aileron Bold" panose="00000800000000000000"/>
                <a:ea typeface="Aileron Bold" panose="00000800000000000000"/>
                <a:cs typeface="Aileron Bold" panose="00000800000000000000"/>
                <a:sym typeface="Aileron Bold" panose="00000800000000000000"/>
              </a:rPr>
              <a:t>PASS: 5 test case</a:t>
            </a:r>
            <a:endParaRPr lang="en-US" sz="1400" b="1">
              <a:solidFill>
                <a:srgbClr val="E00A1D"/>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E00A1D"/>
                </a:solidFill>
                <a:latin typeface="Aileron Bold" panose="00000800000000000000"/>
                <a:ea typeface="Aileron Bold" panose="00000800000000000000"/>
                <a:cs typeface="Aileron Bold" panose="00000800000000000000"/>
                <a:sym typeface="Aileron Bold" panose="00000800000000000000"/>
              </a:rPr>
              <a:t>FAIL: 0</a:t>
            </a:r>
            <a:r>
              <a:rPr lang="en-US" sz="1400" b="1">
                <a:solidFill>
                  <a:srgbClr val="E00A1D"/>
                </a:solidFill>
                <a:latin typeface="Aileron Bold" panose="00000800000000000000"/>
                <a:ea typeface="Aileron Bold" panose="00000800000000000000"/>
                <a:cs typeface="Aileron Bold" panose="00000800000000000000"/>
                <a:sym typeface="Aileron Bold" panose="00000800000000000000"/>
              </a:rPr>
              <a:t> test case</a:t>
            </a:r>
            <a:endParaRPr lang="en-US" sz="1400" b="1">
              <a:solidFill>
                <a:srgbClr val="E00A1D"/>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p>
        </p:txBody>
      </p:sp>
      <p:sp>
        <p:nvSpPr>
          <p:cNvPr id="16" name="TextBox 16"/>
          <p:cNvSpPr txBox="1"/>
          <p:nvPr/>
        </p:nvSpPr>
        <p:spPr>
          <a:xfrm>
            <a:off x="211540" y="4684769"/>
            <a:ext cx="2776376" cy="323215"/>
          </a:xfrm>
          <a:prstGeom prst="rect">
            <a:avLst/>
          </a:prstGeom>
        </p:spPr>
        <p:txBody>
          <a:bodyPr lIns="0" tIns="0" rIns="0" bIns="0" rtlCol="0" anchor="t">
            <a:spAutoFit/>
          </a:bodyPr>
          <a:lstStyle/>
          <a:p>
            <a:pPr algn="just">
              <a:lnSpc>
                <a:spcPts val="2660"/>
              </a:lnSpc>
            </a:pPr>
            <a:r>
              <a:rPr lang="en-US" sz="1900" b="1">
                <a:solidFill>
                  <a:srgbClr val="021828"/>
                </a:solidFill>
                <a:latin typeface="Aileron Bold" panose="00000800000000000000"/>
                <a:ea typeface="Aileron Bold" panose="00000800000000000000"/>
                <a:cs typeface="Aileron Bold" panose="00000800000000000000"/>
                <a:sym typeface="Aileron Bold" panose="00000800000000000000"/>
              </a:rPr>
              <a:t>Kiểm thử tích hợp</a:t>
            </a:r>
            <a:endParaRPr lang="en-US" sz="1900" b="1">
              <a:solidFill>
                <a:srgbClr val="021828"/>
              </a:solidFill>
              <a:latin typeface="Aileron Bold" panose="00000800000000000000"/>
              <a:ea typeface="Aileron Bold" panose="00000800000000000000"/>
              <a:cs typeface="Aileron Bold" panose="00000800000000000000"/>
              <a:sym typeface="Aileron Bold" panose="00000800000000000000"/>
            </a:endParaRPr>
          </a:p>
        </p:txBody>
      </p:sp>
      <p:sp>
        <p:nvSpPr>
          <p:cNvPr id="17" name="TextBox 17"/>
          <p:cNvSpPr txBox="1"/>
          <p:nvPr/>
        </p:nvSpPr>
        <p:spPr>
          <a:xfrm>
            <a:off x="211540" y="8380947"/>
            <a:ext cx="6405294" cy="1973782"/>
          </a:xfrm>
          <a:prstGeom prst="rect">
            <a:avLst/>
          </a:prstGeom>
        </p:spPr>
        <p:txBody>
          <a:bodyPr lIns="0" tIns="0" rIns="0" bIns="0" rtlCol="0" anchor="t">
            <a:spAutoFit/>
          </a:bodyPr>
          <a:lstStyle/>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Số lượng test case UX: Tổng số test case UX: 13 t</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est case</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Kết quả thực thi: Trong 13 test case UX đã thực hiện:</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E00A1D"/>
                </a:solidFill>
                <a:latin typeface="Aileron Bold" panose="00000800000000000000"/>
                <a:ea typeface="Aileron Bold" panose="00000800000000000000"/>
                <a:cs typeface="Aileron Bold" panose="00000800000000000000"/>
                <a:sym typeface="Aileron Bold" panose="00000800000000000000"/>
              </a:rPr>
              <a:t>PA</a:t>
            </a:r>
            <a:r>
              <a:rPr lang="en-US" sz="1400" b="1">
                <a:solidFill>
                  <a:srgbClr val="E00A1D"/>
                </a:solidFill>
                <a:latin typeface="Aileron Bold" panose="00000800000000000000"/>
                <a:ea typeface="Aileron Bold" panose="00000800000000000000"/>
                <a:cs typeface="Aileron Bold" panose="00000800000000000000"/>
                <a:sym typeface="Aileron Bold" panose="00000800000000000000"/>
              </a:rPr>
              <a:t>SS: 11</a:t>
            </a:r>
            <a:r>
              <a:rPr lang="en-US" sz="1400" b="1">
                <a:solidFill>
                  <a:srgbClr val="E00A1D"/>
                </a:solidFill>
                <a:latin typeface="Aileron Bold" panose="00000800000000000000"/>
                <a:ea typeface="Aileron Bold" panose="00000800000000000000"/>
                <a:cs typeface="Aileron Bold" panose="00000800000000000000"/>
                <a:sym typeface="Aileron Bold" panose="00000800000000000000"/>
              </a:rPr>
              <a:t> test case</a:t>
            </a:r>
            <a:endParaRPr lang="en-US" sz="1400" b="1">
              <a:solidFill>
                <a:srgbClr val="E00A1D"/>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E00A1D"/>
                </a:solidFill>
                <a:latin typeface="Aileron Bold" panose="00000800000000000000"/>
                <a:ea typeface="Aileron Bold" panose="00000800000000000000"/>
                <a:cs typeface="Aileron Bold" panose="00000800000000000000"/>
                <a:sym typeface="Aileron Bold" panose="00000800000000000000"/>
              </a:rPr>
              <a:t>FAIL:</a:t>
            </a:r>
            <a:r>
              <a:rPr lang="en-US" sz="1400" b="1">
                <a:solidFill>
                  <a:srgbClr val="E00A1D"/>
                </a:solidFill>
                <a:latin typeface="Aileron Bold" panose="00000800000000000000"/>
                <a:ea typeface="Aileron Bold" panose="00000800000000000000"/>
                <a:cs typeface="Aileron Bold" panose="00000800000000000000"/>
                <a:sym typeface="Aileron Bold" panose="00000800000000000000"/>
              </a:rPr>
              <a:t> 2 test case</a:t>
            </a:r>
            <a:endParaRPr lang="en-US" sz="1400" b="1">
              <a:solidFill>
                <a:srgbClr val="E00A1D"/>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Hai test case bị fail gồm:</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TC_UX_12:</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Trang Tin tức không hiển thị đầy đủ giao diện</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TC_UX_13: Trang Liên hệ không hiển thị đầy đủ giao diện</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p>
        </p:txBody>
      </p:sp>
      <p:sp>
        <p:nvSpPr>
          <p:cNvPr id="18" name="TextBox 18"/>
          <p:cNvSpPr txBox="1"/>
          <p:nvPr/>
        </p:nvSpPr>
        <p:spPr>
          <a:xfrm>
            <a:off x="211540" y="8010513"/>
            <a:ext cx="3753812" cy="323215"/>
          </a:xfrm>
          <a:prstGeom prst="rect">
            <a:avLst/>
          </a:prstGeom>
        </p:spPr>
        <p:txBody>
          <a:bodyPr lIns="0" tIns="0" rIns="0" bIns="0" rtlCol="0" anchor="t">
            <a:spAutoFit/>
          </a:bodyPr>
          <a:lstStyle/>
          <a:p>
            <a:pPr algn="just">
              <a:lnSpc>
                <a:spcPts val="2660"/>
              </a:lnSpc>
            </a:pPr>
            <a:r>
              <a:rPr lang="en-US" sz="1900" b="1">
                <a:solidFill>
                  <a:srgbClr val="021828"/>
                </a:solidFill>
                <a:latin typeface="Aileron Bold" panose="00000800000000000000"/>
                <a:ea typeface="Aileron Bold" panose="00000800000000000000"/>
                <a:cs typeface="Aileron Bold" panose="00000800000000000000"/>
                <a:sym typeface="Aileron Bold" panose="00000800000000000000"/>
              </a:rPr>
              <a:t>Kiểm thử UX (Usability Testing)</a:t>
            </a:r>
            <a:endParaRPr lang="en-US" sz="1900" b="1">
              <a:solidFill>
                <a:srgbClr val="021828"/>
              </a:solidFill>
              <a:latin typeface="Aileron Bold" panose="00000800000000000000"/>
              <a:ea typeface="Aileron Bold" panose="00000800000000000000"/>
              <a:cs typeface="Aileron Bold" panose="00000800000000000000"/>
              <a:sym typeface="Aileron Bold" panose="00000800000000000000"/>
            </a:endParaRPr>
          </a:p>
        </p:txBody>
      </p:sp>
      <p:sp>
        <p:nvSpPr>
          <p:cNvPr id="19" name="TextBox 19"/>
          <p:cNvSpPr txBox="1"/>
          <p:nvPr/>
        </p:nvSpPr>
        <p:spPr>
          <a:xfrm>
            <a:off x="5412535" y="1472520"/>
            <a:ext cx="7977371" cy="983398"/>
          </a:xfrm>
          <a:prstGeom prst="rect">
            <a:avLst/>
          </a:prstGeom>
        </p:spPr>
        <p:txBody>
          <a:bodyPr lIns="0" tIns="0" rIns="0" bIns="0" rtlCol="0" anchor="t">
            <a:spAutoFit/>
          </a:bodyPr>
          <a:lstStyle/>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Công cụ: Apache JM</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eter</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Loại</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request: HTTP Request</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Tổng số request: 50</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0</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samples</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p>
        </p:txBody>
      </p:sp>
      <p:sp>
        <p:nvSpPr>
          <p:cNvPr id="20" name="TextBox 20"/>
          <p:cNvSpPr txBox="1"/>
          <p:nvPr/>
        </p:nvSpPr>
        <p:spPr>
          <a:xfrm>
            <a:off x="5412535" y="1111429"/>
            <a:ext cx="2776376" cy="323215"/>
          </a:xfrm>
          <a:prstGeom prst="rect">
            <a:avLst/>
          </a:prstGeom>
        </p:spPr>
        <p:txBody>
          <a:bodyPr lIns="0" tIns="0" rIns="0" bIns="0" rtlCol="0" anchor="t">
            <a:spAutoFit/>
          </a:bodyPr>
          <a:lstStyle/>
          <a:p>
            <a:pPr algn="just">
              <a:lnSpc>
                <a:spcPts val="2660"/>
              </a:lnSpc>
            </a:pPr>
            <a:r>
              <a:rPr lang="en-US" sz="1900" b="1">
                <a:solidFill>
                  <a:srgbClr val="021828"/>
                </a:solidFill>
                <a:latin typeface="Aileron Bold" panose="00000800000000000000"/>
                <a:ea typeface="Aileron Bold" panose="00000800000000000000"/>
                <a:cs typeface="Aileron Bold" panose="00000800000000000000"/>
                <a:sym typeface="Aileron Bold" panose="00000800000000000000"/>
              </a:rPr>
              <a:t>Kiểm thử hiệu năng</a:t>
            </a:r>
            <a:endParaRPr lang="en-US" sz="1900" b="1">
              <a:solidFill>
                <a:srgbClr val="021828"/>
              </a:solidFill>
              <a:latin typeface="Aileron Bold" panose="00000800000000000000"/>
              <a:ea typeface="Aileron Bold" panose="00000800000000000000"/>
              <a:cs typeface="Aileron Bold" panose="00000800000000000000"/>
              <a:sym typeface="Aileron Bold" panose="00000800000000000000"/>
            </a:endParaRPr>
          </a:p>
        </p:txBody>
      </p:sp>
      <p:sp>
        <p:nvSpPr>
          <p:cNvPr id="21" name="TextBox 21"/>
          <p:cNvSpPr txBox="1"/>
          <p:nvPr/>
        </p:nvSpPr>
        <p:spPr>
          <a:xfrm>
            <a:off x="8584452" y="3121460"/>
            <a:ext cx="8325301" cy="1230994"/>
          </a:xfrm>
          <a:prstGeom prst="rect">
            <a:avLst/>
          </a:prstGeom>
        </p:spPr>
        <p:txBody>
          <a:bodyPr lIns="0" tIns="0" rIns="0" bIns="0" rtlCol="0" anchor="t">
            <a:spAutoFit/>
          </a:bodyPr>
          <a:lstStyle/>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Nhận xét: </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Kết quả kiểm thử hiệu nă</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ng cho thấy hệ </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thống xử lý thành công 500 request với thời gian phản hồi trung bình 229ms và không có lỗi xảy ra (0%). Điều này chứng tỏ hệ thống hoạt động ổn định ở mức tải cơ bản, tuy nhiên vẫn cần tối ưu để giảm độ trễ ở các request có thời gian phản hồi cao</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p>
        </p:txBody>
      </p:sp>
      <p:sp>
        <p:nvSpPr>
          <p:cNvPr id="22" name="TextBox 22"/>
          <p:cNvSpPr txBox="1"/>
          <p:nvPr/>
        </p:nvSpPr>
        <p:spPr>
          <a:xfrm>
            <a:off x="6293233" y="6145606"/>
            <a:ext cx="4309813" cy="860317"/>
          </a:xfrm>
          <a:prstGeom prst="rect">
            <a:avLst/>
          </a:prstGeom>
        </p:spPr>
        <p:txBody>
          <a:bodyPr lIns="0" tIns="0" rIns="0" bIns="0" rtlCol="0" anchor="t">
            <a:spAutoFit/>
          </a:bodyPr>
          <a:lstStyle/>
          <a:p>
            <a:pPr algn="just">
              <a:lnSpc>
                <a:spcPts val="3500"/>
              </a:lnSpc>
            </a:pPr>
            <a:r>
              <a:rPr lang="en-US" sz="2500" b="1">
                <a:solidFill>
                  <a:srgbClr val="021828"/>
                </a:solidFill>
                <a:latin typeface="Aileron Bold" panose="00000800000000000000"/>
                <a:ea typeface="Aileron Bold" panose="00000800000000000000"/>
                <a:cs typeface="Aileron Bold" panose="00000800000000000000"/>
                <a:sym typeface="Aileron Bold" panose="00000800000000000000"/>
              </a:rPr>
              <a:t>Thống kê kết quả kiêm thử và báo cáo lỗi</a:t>
            </a:r>
            <a:endParaRPr lang="en-US" sz="2500" b="1">
              <a:solidFill>
                <a:srgbClr val="021828"/>
              </a:solidFill>
              <a:latin typeface="Aileron Bold" panose="00000800000000000000"/>
              <a:ea typeface="Aileron Bold" panose="00000800000000000000"/>
              <a:cs typeface="Aileron Bold" panose="00000800000000000000"/>
              <a:sym typeface="Aileron Bold" panose="0000080000000000000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349898" y="6750613"/>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0">
            <a:off x="418981" y="143639"/>
            <a:ext cx="1377905" cy="137790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2800"/>
                </a:lnSpc>
              </a:pPr>
            </a:p>
          </p:txBody>
        </p:sp>
      </p:grpSp>
      <p:sp>
        <p:nvSpPr>
          <p:cNvPr id="6" name="Freeform 6"/>
          <p:cNvSpPr/>
          <p:nvPr/>
        </p:nvSpPr>
        <p:spPr>
          <a:xfrm>
            <a:off x="1028700" y="624468"/>
            <a:ext cx="270384" cy="404232"/>
          </a:xfrm>
          <a:custGeom>
            <a:avLst/>
            <a:gdLst/>
            <a:ahLst/>
            <a:cxnLst/>
            <a:rect l="l" t="t" r="r" b="b"/>
            <a:pathLst>
              <a:path w="270384" h="404232">
                <a:moveTo>
                  <a:pt x="0" y="0"/>
                </a:moveTo>
                <a:lnTo>
                  <a:pt x="270384" y="0"/>
                </a:lnTo>
                <a:lnTo>
                  <a:pt x="270384" y="404232"/>
                </a:lnTo>
                <a:lnTo>
                  <a:pt x="0" y="4042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5712871" y="9063896"/>
            <a:ext cx="2763919" cy="882511"/>
          </a:xfrm>
          <a:custGeom>
            <a:avLst/>
            <a:gdLst/>
            <a:ahLst/>
            <a:cxnLst/>
            <a:rect l="l" t="t" r="r" b="b"/>
            <a:pathLst>
              <a:path w="2763919" h="882511">
                <a:moveTo>
                  <a:pt x="0" y="0"/>
                </a:moveTo>
                <a:lnTo>
                  <a:pt x="2763919" y="0"/>
                </a:lnTo>
                <a:lnTo>
                  <a:pt x="2763919" y="882511"/>
                </a:lnTo>
                <a:lnTo>
                  <a:pt x="0" y="88251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8838756" y="9275885"/>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617201" y="1627820"/>
            <a:ext cx="8963300" cy="2716570"/>
          </a:xfrm>
          <a:prstGeom prst="rect">
            <a:avLst/>
          </a:prstGeom>
        </p:spPr>
        <p:txBody>
          <a:bodyPr lIns="0" tIns="0" rIns="0" bIns="0" rtlCol="0" anchor="t">
            <a:spAutoFit/>
          </a:bodyPr>
          <a:lstStyle/>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Cô</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ng cụ:</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Selenium</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WebDriver + .NET</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NUnit,</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ExtentReports</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Thực </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h</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iện:</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27</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test script</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Chạy trên Chrome + Edge → 54 lần test</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Các test script được thiết kế theo mô hình Page Object Model (POM)</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302260" lvl="1" indent="-151130" algn="just">
              <a:lnSpc>
                <a:spcPts val="1960"/>
              </a:lnSpc>
              <a:buFont typeface="Arial" panose="020B0604020202020204"/>
              <a:buChar char="•"/>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Ngoài ra các ảnh chụp màn hình khi test fail cũng được lưu trong thư mục: Reports/Screenshots</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Cấu trúc Dom của dự án và file TestReport.html được trược quan:</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p>
          <a:p>
            <a:pPr algn="just">
              <a:lnSpc>
                <a:spcPts val="1960"/>
              </a:lnSpc>
            </a:pPr>
          </a:p>
        </p:txBody>
      </p:sp>
      <p:sp>
        <p:nvSpPr>
          <p:cNvPr id="10" name="Freeform 10"/>
          <p:cNvSpPr/>
          <p:nvPr/>
        </p:nvSpPr>
        <p:spPr>
          <a:xfrm>
            <a:off x="643313" y="3931077"/>
            <a:ext cx="2543961" cy="4383603"/>
          </a:xfrm>
          <a:custGeom>
            <a:avLst/>
            <a:gdLst/>
            <a:ahLst/>
            <a:cxnLst/>
            <a:rect l="l" t="t" r="r" b="b"/>
            <a:pathLst>
              <a:path w="2543961" h="4383603">
                <a:moveTo>
                  <a:pt x="0" y="0"/>
                </a:moveTo>
                <a:lnTo>
                  <a:pt x="2543961" y="0"/>
                </a:lnTo>
                <a:lnTo>
                  <a:pt x="2543961" y="4383602"/>
                </a:lnTo>
                <a:lnTo>
                  <a:pt x="0" y="4383602"/>
                </a:lnTo>
                <a:lnTo>
                  <a:pt x="0" y="0"/>
                </a:lnTo>
                <a:close/>
              </a:path>
            </a:pathLst>
          </a:custGeom>
          <a:blipFill>
            <a:blip r:embed="rId9"/>
            <a:stretch>
              <a:fillRect/>
            </a:stretch>
          </a:blipFill>
        </p:spPr>
      </p:sp>
      <p:sp>
        <p:nvSpPr>
          <p:cNvPr id="11" name="Freeform 11"/>
          <p:cNvSpPr/>
          <p:nvPr/>
        </p:nvSpPr>
        <p:spPr>
          <a:xfrm>
            <a:off x="3318603" y="4231644"/>
            <a:ext cx="7552455" cy="3782469"/>
          </a:xfrm>
          <a:custGeom>
            <a:avLst/>
            <a:gdLst/>
            <a:ahLst/>
            <a:cxnLst/>
            <a:rect l="l" t="t" r="r" b="b"/>
            <a:pathLst>
              <a:path w="7552455" h="3782469">
                <a:moveTo>
                  <a:pt x="0" y="0"/>
                </a:moveTo>
                <a:lnTo>
                  <a:pt x="7552455" y="0"/>
                </a:lnTo>
                <a:lnTo>
                  <a:pt x="7552455" y="3782469"/>
                </a:lnTo>
                <a:lnTo>
                  <a:pt x="0" y="3782469"/>
                </a:lnTo>
                <a:lnTo>
                  <a:pt x="0" y="0"/>
                </a:lnTo>
                <a:close/>
              </a:path>
            </a:pathLst>
          </a:custGeom>
          <a:blipFill>
            <a:blip r:embed="rId10"/>
            <a:stretch>
              <a:fillRect/>
            </a:stretch>
          </a:blipFill>
        </p:spPr>
      </p:sp>
      <p:sp>
        <p:nvSpPr>
          <p:cNvPr id="12" name="Freeform 12"/>
          <p:cNvSpPr/>
          <p:nvPr/>
        </p:nvSpPr>
        <p:spPr>
          <a:xfrm>
            <a:off x="643313" y="8380082"/>
            <a:ext cx="2701402" cy="1791605"/>
          </a:xfrm>
          <a:custGeom>
            <a:avLst/>
            <a:gdLst/>
            <a:ahLst/>
            <a:cxnLst/>
            <a:rect l="l" t="t" r="r" b="b"/>
            <a:pathLst>
              <a:path w="2701402" h="1791605">
                <a:moveTo>
                  <a:pt x="0" y="0"/>
                </a:moveTo>
                <a:lnTo>
                  <a:pt x="2701403" y="0"/>
                </a:lnTo>
                <a:lnTo>
                  <a:pt x="2701403" y="1791605"/>
                </a:lnTo>
                <a:lnTo>
                  <a:pt x="0" y="1791605"/>
                </a:lnTo>
                <a:lnTo>
                  <a:pt x="0" y="0"/>
                </a:lnTo>
                <a:close/>
              </a:path>
            </a:pathLst>
          </a:custGeom>
          <a:blipFill>
            <a:blip r:embed="rId11"/>
            <a:stretch>
              <a:fillRect r="-152105"/>
            </a:stretch>
          </a:blipFill>
        </p:spPr>
      </p:sp>
      <p:sp>
        <p:nvSpPr>
          <p:cNvPr id="13" name="Freeform 13"/>
          <p:cNvSpPr/>
          <p:nvPr/>
        </p:nvSpPr>
        <p:spPr>
          <a:xfrm>
            <a:off x="3564995" y="8405888"/>
            <a:ext cx="7287930" cy="1739993"/>
          </a:xfrm>
          <a:custGeom>
            <a:avLst/>
            <a:gdLst/>
            <a:ahLst/>
            <a:cxnLst/>
            <a:rect l="l" t="t" r="r" b="b"/>
            <a:pathLst>
              <a:path w="7287930" h="1739993">
                <a:moveTo>
                  <a:pt x="0" y="0"/>
                </a:moveTo>
                <a:lnTo>
                  <a:pt x="7287930" y="0"/>
                </a:lnTo>
                <a:lnTo>
                  <a:pt x="7287930" y="1739993"/>
                </a:lnTo>
                <a:lnTo>
                  <a:pt x="0" y="1739993"/>
                </a:lnTo>
                <a:lnTo>
                  <a:pt x="0" y="0"/>
                </a:lnTo>
                <a:close/>
              </a:path>
            </a:pathLst>
          </a:custGeom>
          <a:blipFill>
            <a:blip r:embed="rId12"/>
            <a:stretch>
              <a:fillRect/>
            </a:stretch>
          </a:blipFill>
        </p:spPr>
      </p:sp>
      <p:sp>
        <p:nvSpPr>
          <p:cNvPr id="14" name="TextBox 14"/>
          <p:cNvSpPr txBox="1"/>
          <p:nvPr/>
        </p:nvSpPr>
        <p:spPr>
          <a:xfrm>
            <a:off x="-2808127" y="457000"/>
            <a:ext cx="13661052" cy="824892"/>
          </a:xfrm>
          <a:prstGeom prst="rect">
            <a:avLst/>
          </a:prstGeom>
        </p:spPr>
        <p:txBody>
          <a:bodyPr lIns="0" tIns="0" rIns="0" bIns="0" rtlCol="0" anchor="t">
            <a:spAutoFit/>
          </a:bodyPr>
          <a:lstStyle/>
          <a:p>
            <a:pPr algn="ctr">
              <a:lnSpc>
                <a:spcPts val="6180"/>
              </a:lnSpc>
            </a:pPr>
            <a:r>
              <a:rPr lang="en-US" sz="600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rPr>
              <a:t>AUTOMATION</a:t>
            </a:r>
            <a:endParaRPr lang="en-US" sz="6000"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endParaRPr>
          </a:p>
        </p:txBody>
      </p:sp>
      <p:sp>
        <p:nvSpPr>
          <p:cNvPr id="15" name="TextBox 15"/>
          <p:cNvSpPr txBox="1"/>
          <p:nvPr/>
        </p:nvSpPr>
        <p:spPr>
          <a:xfrm>
            <a:off x="9336470" y="1755590"/>
            <a:ext cx="8538700" cy="1973782"/>
          </a:xfrm>
          <a:prstGeom prst="rect">
            <a:avLst/>
          </a:prstGeom>
        </p:spPr>
        <p:txBody>
          <a:bodyPr lIns="0" tIns="0" rIns="0" bIns="0" rtlCol="0" anchor="t">
            <a:spAutoFit/>
          </a:bodyPr>
          <a:lstStyle/>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Các test script:</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Automation</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test cho chức năng đăng ký:</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Thực </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h</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iện tự động hóa </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23</a:t>
            </a: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 test case đầu tiên của chức năng đăng ký, tương ứng với các test case:</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TC_RG_01 → TC_RG_23</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Automation test cho chức năng đăng nhập</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Thực hiện tự động hóa 4 test case đầu của chức năng đăng nhập, tương ứng với:</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r>
              <a:rPr lang="en-US" sz="1400" b="1">
                <a:solidFill>
                  <a:srgbClr val="021828"/>
                </a:solidFill>
                <a:latin typeface="Aileron Bold" panose="00000800000000000000"/>
                <a:ea typeface="Aileron Bold" panose="00000800000000000000"/>
                <a:cs typeface="Aileron Bold" panose="00000800000000000000"/>
                <a:sym typeface="Aileron Bold" panose="00000800000000000000"/>
              </a:rPr>
              <a:t>TC_LG_01 → TC_LG_04</a:t>
            </a:r>
            <a:endParaRPr lang="en-US" sz="140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1960"/>
              </a:lnSpc>
            </a:pPr>
          </a:p>
        </p:txBody>
      </p:sp>
      <p:sp>
        <p:nvSpPr>
          <p:cNvPr id="16" name="TextBox 16"/>
          <p:cNvSpPr txBox="1"/>
          <p:nvPr/>
        </p:nvSpPr>
        <p:spPr>
          <a:xfrm>
            <a:off x="11334572" y="3892977"/>
            <a:ext cx="5924728" cy="3056052"/>
          </a:xfrm>
          <a:prstGeom prst="rect">
            <a:avLst/>
          </a:prstGeom>
        </p:spPr>
        <p:txBody>
          <a:bodyPr lIns="0" tIns="0" rIns="0" bIns="0" rtlCol="0" anchor="t">
            <a:spAutoFit/>
          </a:bodyPr>
          <a:lstStyle/>
          <a:p>
            <a:pPr algn="just">
              <a:lnSpc>
                <a:spcPts val="2015"/>
              </a:lnSpc>
            </a:pPr>
            <a:r>
              <a:rPr lang="en-US" sz="1440" b="1">
                <a:solidFill>
                  <a:srgbClr val="021828"/>
                </a:solidFill>
                <a:latin typeface="Aileron Bold" panose="00000800000000000000"/>
                <a:ea typeface="Aileron Bold" panose="00000800000000000000"/>
                <a:cs typeface="Aileron Bold" panose="00000800000000000000"/>
                <a:sym typeface="Aileron Bold" panose="00000800000000000000"/>
              </a:rPr>
              <a:t>Nhận xét về Automation:</a:t>
            </a:r>
            <a:endParaRPr lang="en-US" sz="144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2015"/>
              </a:lnSpc>
            </a:pPr>
            <a:r>
              <a:rPr lang="en-US" sz="1440" b="1">
                <a:solidFill>
                  <a:srgbClr val="021828"/>
                </a:solidFill>
                <a:latin typeface="Aileron Bold" panose="00000800000000000000"/>
                <a:ea typeface="Aileron Bold" panose="00000800000000000000"/>
                <a:cs typeface="Aileron Bold" panose="00000800000000000000"/>
                <a:sym typeface="Aileron Bold" panose="00000800000000000000"/>
              </a:rPr>
              <a:t>Việc áp dụng kiểm thử tự động mang lại nhiều lợi ích trong quá trình kiểm thử hệ thống MyTrip.</a:t>
            </a:r>
            <a:endParaRPr lang="en-US" sz="144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2015"/>
              </a:lnSpc>
            </a:pPr>
            <a:r>
              <a:rPr lang="en-US" sz="1440" b="1">
                <a:solidFill>
                  <a:srgbClr val="021828"/>
                </a:solidFill>
                <a:latin typeface="Aileron Bold" panose="00000800000000000000"/>
                <a:ea typeface="Aileron Bold" panose="00000800000000000000"/>
                <a:cs typeface="Aileron Bold" panose="00000800000000000000"/>
                <a:sym typeface="Aileron Bold" panose="00000800000000000000"/>
              </a:rPr>
              <a:t>- </a:t>
            </a:r>
            <a:r>
              <a:rPr lang="en-US" sz="1440" b="1">
                <a:solidFill>
                  <a:srgbClr val="021828"/>
                </a:solidFill>
                <a:latin typeface="Aileron Bold" panose="00000800000000000000"/>
                <a:ea typeface="Aileron Bold" panose="00000800000000000000"/>
                <a:cs typeface="Aileron Bold" panose="00000800000000000000"/>
                <a:sym typeface="Aileron Bold" panose="00000800000000000000"/>
              </a:rPr>
              <a:t>Aautomation</a:t>
            </a:r>
            <a:r>
              <a:rPr lang="en-US" sz="1440" b="1">
                <a:solidFill>
                  <a:srgbClr val="021828"/>
                </a:solidFill>
                <a:latin typeface="Aileron Bold" panose="00000800000000000000"/>
                <a:ea typeface="Aileron Bold" panose="00000800000000000000"/>
                <a:cs typeface="Aileron Bold" panose="00000800000000000000"/>
                <a:sym typeface="Aileron Bold" panose="00000800000000000000"/>
              </a:rPr>
              <a:t> test giúp giảm đáng kể thời gian thực </a:t>
            </a:r>
            <a:r>
              <a:rPr lang="en-US" sz="1440" b="1">
                <a:solidFill>
                  <a:srgbClr val="021828"/>
                </a:solidFill>
                <a:latin typeface="Aileron Bold" panose="00000800000000000000"/>
                <a:ea typeface="Aileron Bold" panose="00000800000000000000"/>
                <a:cs typeface="Aileron Bold" panose="00000800000000000000"/>
                <a:sym typeface="Aileron Bold" panose="00000800000000000000"/>
              </a:rPr>
              <a:t>h</a:t>
            </a:r>
            <a:r>
              <a:rPr lang="en-US" sz="1440" b="1">
                <a:solidFill>
                  <a:srgbClr val="021828"/>
                </a:solidFill>
                <a:latin typeface="Aileron Bold" panose="00000800000000000000"/>
                <a:ea typeface="Aileron Bold" panose="00000800000000000000"/>
                <a:cs typeface="Aileron Bold" panose="00000800000000000000"/>
                <a:sym typeface="Aileron Bold" panose="00000800000000000000"/>
              </a:rPr>
              <a:t>iện các test lặp lại so với kiểm thử thủ công. Ngoài ra, các test script có thể được chạy nhiều lần trên các trình duyệt khác nhau, giúp kiểm tra tính tương thích của hệ thống.</a:t>
            </a:r>
            <a:endParaRPr lang="en-US" sz="144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2015"/>
              </a:lnSpc>
            </a:pPr>
            <a:r>
              <a:rPr lang="en-US" sz="1440" b="1">
                <a:solidFill>
                  <a:srgbClr val="021828"/>
                </a:solidFill>
                <a:latin typeface="Aileron Bold" panose="00000800000000000000"/>
                <a:ea typeface="Aileron Bold" panose="00000800000000000000"/>
                <a:cs typeface="Aileron Bold" panose="00000800000000000000"/>
                <a:sym typeface="Aileron Bold" panose="00000800000000000000"/>
              </a:rPr>
              <a:t>- Xây dựng 27 test script và chạy trên hai trình d</a:t>
            </a:r>
            <a:r>
              <a:rPr lang="en-US" sz="1440" b="1">
                <a:solidFill>
                  <a:srgbClr val="021828"/>
                </a:solidFill>
                <a:latin typeface="Aileron Bold" panose="00000800000000000000"/>
                <a:ea typeface="Aileron Bold" panose="00000800000000000000"/>
                <a:cs typeface="Aileron Bold" panose="00000800000000000000"/>
                <a:sym typeface="Aileron Bold" panose="00000800000000000000"/>
              </a:rPr>
              <a:t>uyệt Chrome và Edge, tương đương 54 lần chạy test. Kết quả cho thấy phần lớn các chức năng của hệ thống hoạt động đúng, tuy nhiên vẫn tồn tại một số lỗi liên quan đến kiểm tra dữ liệu đầu vào của form đăng ký.</a:t>
            </a:r>
            <a:endParaRPr lang="en-US" sz="1440"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2015"/>
              </a:lnSpc>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AEDFB"/>
        </a:solidFill>
        <a:effectLst/>
      </p:bgPr>
    </p:bg>
    <p:spTree>
      <p:nvGrpSpPr>
        <p:cNvPr id="1" name=""/>
        <p:cNvGrpSpPr/>
        <p:nvPr/>
      </p:nvGrpSpPr>
      <p:grpSpPr>
        <a:xfrm>
          <a:off x="0" y="0"/>
          <a:ext cx="0" cy="0"/>
          <a:chOff x="0" y="0"/>
          <a:chExt cx="0" cy="0"/>
        </a:xfrm>
      </p:grpSpPr>
      <p:sp>
        <p:nvSpPr>
          <p:cNvPr id="2" name="Freeform 2"/>
          <p:cNvSpPr/>
          <p:nvPr/>
        </p:nvSpPr>
        <p:spPr>
          <a:xfrm>
            <a:off x="15349898" y="6750613"/>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0">
            <a:off x="-35560" y="2914015"/>
            <a:ext cx="1664335" cy="5894705"/>
            <a:chOff x="0" y="0"/>
            <a:chExt cx="1488104" cy="1552548"/>
          </a:xfrm>
        </p:grpSpPr>
        <p:sp>
          <p:nvSpPr>
            <p:cNvPr id="4" name="Freeform 4"/>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sp>
        <p:sp>
          <p:nvSpPr>
            <p:cNvPr id="5" name="TextBox 5"/>
            <p:cNvSpPr txBox="1"/>
            <p:nvPr/>
          </p:nvSpPr>
          <p:spPr>
            <a:xfrm>
              <a:off x="0" y="-47625"/>
              <a:ext cx="1488104" cy="1600173"/>
            </a:xfrm>
            <a:prstGeom prst="rect">
              <a:avLst/>
            </a:prstGeom>
          </p:spPr>
          <p:txBody>
            <a:bodyPr lIns="50800" tIns="50800" rIns="50800" bIns="50800" rtlCol="0" anchor="ctr"/>
            <a:lstStyle/>
            <a:p>
              <a:pPr algn="ctr">
                <a:lnSpc>
                  <a:spcPts val="2800"/>
                </a:lnSpc>
              </a:pPr>
            </a:p>
          </p:txBody>
        </p:sp>
      </p:grpSp>
      <p:grpSp>
        <p:nvGrpSpPr>
          <p:cNvPr id="6" name="Group 6"/>
          <p:cNvGrpSpPr/>
          <p:nvPr/>
        </p:nvGrpSpPr>
        <p:grpSpPr>
          <a:xfrm rot="0">
            <a:off x="418981" y="143639"/>
            <a:ext cx="1858734" cy="185873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800"/>
                </a:lnSpc>
              </a:pPr>
            </a:p>
          </p:txBody>
        </p:sp>
      </p:grpSp>
      <p:sp>
        <p:nvSpPr>
          <p:cNvPr id="9" name="Freeform 9"/>
          <p:cNvSpPr/>
          <p:nvPr/>
        </p:nvSpPr>
        <p:spPr>
          <a:xfrm>
            <a:off x="1028700" y="624468"/>
            <a:ext cx="600038" cy="897076"/>
          </a:xfrm>
          <a:custGeom>
            <a:avLst/>
            <a:gdLst/>
            <a:ahLst/>
            <a:cxnLst/>
            <a:rect l="l" t="t" r="r" b="b"/>
            <a:pathLst>
              <a:path w="600038" h="897076">
                <a:moveTo>
                  <a:pt x="0" y="0"/>
                </a:moveTo>
                <a:lnTo>
                  <a:pt x="600038" y="0"/>
                </a:lnTo>
                <a:lnTo>
                  <a:pt x="600038" y="897076"/>
                </a:lnTo>
                <a:lnTo>
                  <a:pt x="0" y="89707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6906041" y="9258300"/>
            <a:ext cx="2763919" cy="882511"/>
          </a:xfrm>
          <a:custGeom>
            <a:avLst/>
            <a:gdLst/>
            <a:ahLst/>
            <a:cxnLst/>
            <a:rect l="l" t="t" r="r" b="b"/>
            <a:pathLst>
              <a:path w="2763919" h="882511">
                <a:moveTo>
                  <a:pt x="0" y="0"/>
                </a:moveTo>
                <a:lnTo>
                  <a:pt x="2763918" y="0"/>
                </a:lnTo>
                <a:lnTo>
                  <a:pt x="2763918" y="882511"/>
                </a:lnTo>
                <a:lnTo>
                  <a:pt x="0" y="88251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a:off x="16391681" y="408328"/>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TextBox 12"/>
          <p:cNvSpPr txBox="1"/>
          <p:nvPr/>
        </p:nvSpPr>
        <p:spPr>
          <a:xfrm>
            <a:off x="20779" y="532153"/>
            <a:ext cx="17238521" cy="1116920"/>
          </a:xfrm>
          <a:prstGeom prst="rect">
            <a:avLst/>
          </a:prstGeom>
        </p:spPr>
        <p:txBody>
          <a:bodyPr lIns="0" tIns="0" rIns="0" bIns="0" rtlCol="0" anchor="t">
            <a:spAutoFit/>
          </a:bodyPr>
          <a:lstStyle/>
          <a:p>
            <a:pPr algn="ctr">
              <a:lnSpc>
                <a:spcPts val="8440"/>
              </a:lnSpc>
            </a:pPr>
            <a:r>
              <a:rPr lang="en-US" sz="8195"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rPr>
              <a:t>TỔNG KẾT VÀ ĐÁNH GIÁ</a:t>
            </a:r>
            <a:endParaRPr lang="en-US" sz="8195" b="1">
              <a:solidFill>
                <a:srgbClr val="0E2F5F"/>
              </a:solidFill>
              <a:latin typeface="Barlow Condensed Heavy" panose="00000A06000000000000"/>
              <a:ea typeface="Barlow Condensed Heavy" panose="00000A06000000000000"/>
              <a:cs typeface="Barlow Condensed Heavy" panose="00000A06000000000000"/>
              <a:sym typeface="Barlow Condensed Heavy" panose="00000A06000000000000"/>
            </a:endParaRPr>
          </a:p>
        </p:txBody>
      </p:sp>
      <p:sp>
        <p:nvSpPr>
          <p:cNvPr id="13" name="TextBox 13"/>
          <p:cNvSpPr txBox="1"/>
          <p:nvPr/>
        </p:nvSpPr>
        <p:spPr>
          <a:xfrm>
            <a:off x="10162758" y="1582397"/>
            <a:ext cx="6970667" cy="6361962"/>
          </a:xfrm>
          <a:prstGeom prst="rect">
            <a:avLst/>
          </a:prstGeom>
        </p:spPr>
        <p:txBody>
          <a:bodyPr lIns="0" tIns="0" rIns="0" bIns="0" rtlCol="0" anchor="t">
            <a:spAutoFit/>
          </a:bodyPr>
          <a:lstStyle/>
          <a:p>
            <a:pPr algn="just">
              <a:lnSpc>
                <a:spcPts val="4245"/>
              </a:lnSpc>
            </a:pPr>
          </a:p>
          <a:p>
            <a:pPr algn="just">
              <a:lnSpc>
                <a:spcPts val="4245"/>
              </a:lnSpc>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Kết luận:</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Hệ thống hoạt động ổn định</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Giao diện dễ sử dụng</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Còn lỗi nhỏ về validation và UI</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4245"/>
              </a:lnSpc>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Đánh giá: Khá</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4245"/>
              </a:lnSpc>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Đề xuất:</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Cả</a:t>
            </a: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i thiện validation</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Fix</a:t>
            </a: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 UI</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Mở rộng automation</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Áp</a:t>
            </a: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 dụng CI/</a:t>
            </a: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CD</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4095"/>
              </a:lnSpc>
            </a:pPr>
          </a:p>
        </p:txBody>
      </p:sp>
      <p:sp>
        <p:nvSpPr>
          <p:cNvPr id="14" name="TextBox 14"/>
          <p:cNvSpPr txBox="1"/>
          <p:nvPr/>
        </p:nvSpPr>
        <p:spPr>
          <a:xfrm>
            <a:off x="1348348" y="2097387"/>
            <a:ext cx="9306072" cy="8491537"/>
          </a:xfrm>
          <a:prstGeom prst="rect">
            <a:avLst/>
          </a:prstGeom>
        </p:spPr>
        <p:txBody>
          <a:bodyPr lIns="0" tIns="0" rIns="0" bIns="0" rtlCol="0" anchor="t">
            <a:spAutoFit/>
          </a:bodyPr>
          <a:lstStyle/>
          <a:p>
            <a:pPr algn="just">
              <a:lnSpc>
                <a:spcPts val="4245"/>
              </a:lnSpc>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Đánh giá chất lượng ứng dụng sau kiểm thử</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Giao diện rõ ràng, dễ sử dụng</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Chức năng chính hoạt động đúng</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Một số lỗi nhỏ còn tồn tại</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4245"/>
              </a:lnSpc>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Đánh giá tổng thể: Khá</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4245"/>
              </a:lnSpc>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Những gì làm được / chưa làm được</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4245"/>
              </a:lnSpc>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Làm được:</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Thiết kế test case đầy đủ</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Áp dụng nhiều kỹ thuật testing</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Thực hiện automation test</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Thực h</a:t>
            </a: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iện</a:t>
            </a: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 performance test</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4245"/>
              </a:lnSpc>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Chưa làm được:</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Kiểm thử bảo mật</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Automation toàn bộ hệ thống</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marL="655320" lvl="1" indent="-327660" algn="just">
              <a:lnSpc>
                <a:spcPts val="4245"/>
              </a:lnSpc>
              <a:buFont typeface="Arial" panose="020B0604020202020204"/>
              <a:buChar char="•"/>
            </a:pP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Test</a:t>
            </a:r>
            <a:r>
              <a:rPr lang="en-US" sz="3035" b="1">
                <a:solidFill>
                  <a:srgbClr val="021828"/>
                </a:solidFill>
                <a:latin typeface="Aileron Bold" panose="00000800000000000000"/>
                <a:ea typeface="Aileron Bold" panose="00000800000000000000"/>
                <a:cs typeface="Aileron Bold" panose="00000800000000000000"/>
                <a:sym typeface="Aileron Bold" panose="00000800000000000000"/>
              </a:rPr>
              <a:t> hiệu năng nâng cao</a:t>
            </a:r>
            <a:endParaRPr lang="en-US" sz="3035" b="1">
              <a:solidFill>
                <a:srgbClr val="021828"/>
              </a:solidFill>
              <a:latin typeface="Aileron Bold" panose="00000800000000000000"/>
              <a:ea typeface="Aileron Bold" panose="00000800000000000000"/>
              <a:cs typeface="Aileron Bold" panose="00000800000000000000"/>
              <a:sym typeface="Aileron Bold" panose="00000800000000000000"/>
            </a:endParaRPr>
          </a:p>
          <a:p>
            <a:pPr algn="just">
              <a:lnSpc>
                <a:spcPts val="4095"/>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8573</Words>
  <Application>WPS Presentation</Application>
  <PresentationFormat>On-screen Show (4:3)</PresentationFormat>
  <Paragraphs>307</Paragraphs>
  <Slides>10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SimSun</vt:lpstr>
      <vt:lpstr>Wingdings</vt:lpstr>
      <vt:lpstr>Barlow Condensed Heavy</vt:lpstr>
      <vt:lpstr>Barlow Condensed Bold</vt:lpstr>
      <vt:lpstr>Aileron Bold</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KTPM_PhanThiAiMy_De26</dc:title>
  <dc:creator/>
  <cp:lastModifiedBy>hp</cp:lastModifiedBy>
  <cp:revision>2</cp:revision>
  <dcterms:created xsi:type="dcterms:W3CDTF">2006-08-16T00:00:00Z</dcterms:created>
  <dcterms:modified xsi:type="dcterms:W3CDTF">2026-03-19T23:29:51Z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E22947A49D604CBCAA22DE1BB4EAEF10_12</vt:lpwstr>
  </property>
</Properties>
</file>